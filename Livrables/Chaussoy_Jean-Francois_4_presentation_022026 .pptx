
<file path=[Content_Types].xml><?xml version="1.0" encoding="utf-8"?>
<Types xmlns="http://schemas.openxmlformats.org/package/2006/content-types">
  <Default Extension="bin" ContentType="application/vnd.openxmlformats-officedocument.oleObject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8288000" cy="10287000"/>
  <p:notesSz cx="6858000" cy="9144000"/>
  <p:embeddedFontLst>
    <p:embeddedFont>
      <p:font typeface="Open Sans" panose="020B0606030504020204" pitchFamily="34" charset="0"/>
      <p:regular r:id="rId27"/>
      <p:bold r:id="rId28"/>
      <p:italic r:id="rId29"/>
      <p:boldItalic r:id="rId30"/>
    </p:embeddedFont>
    <p:embeddedFont>
      <p:font typeface="Open Sans Bold" panose="020B0806030504020204" charset="0"/>
      <p:regular r:id="rId31"/>
    </p:embeddedFont>
    <p:embeddedFont>
      <p:font typeface="Open Sans Bold Italics" panose="020B0604020202020204" charset="0"/>
      <p:regular r:id="rId32"/>
    </p:embeddedFont>
    <p:embeddedFont>
      <p:font typeface="Open Sans Italics" panose="020B0604020202020204" charset="0"/>
      <p:regular r:id="rId33"/>
    </p:embeddedFont>
    <p:embeddedFont>
      <p:font typeface="TS Qamus" panose="020B0604020202020204" charset="-78"/>
      <p:regular r:id="rId34"/>
    </p:embeddedFont>
    <p:embeddedFont>
      <p:font typeface="TS Qamus Bold" panose="020B0604020202020204" charset="-78"/>
      <p:regular r:id="rId3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0" d="100"/>
          <a:sy n="70" d="100"/>
        </p:scale>
        <p:origin x="84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7.fntdata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6.fntdata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2.fntdata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35" Type="http://schemas.openxmlformats.org/officeDocument/2006/relationships/font" Target="fonts/font9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20.03.2026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‹N°›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.bin"/><Relationship Id="rId5" Type="http://schemas.openxmlformats.org/officeDocument/2006/relationships/image" Target="../media/image7.sv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6.sv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3.png"/><Relationship Id="rId4" Type="http://schemas.openxmlformats.org/officeDocument/2006/relationships/image" Target="../media/image16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3.png"/><Relationship Id="rId4" Type="http://schemas.openxmlformats.org/officeDocument/2006/relationships/image" Target="../media/image16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16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5.sv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3.png"/><Relationship Id="rId4" Type="http://schemas.openxmlformats.org/officeDocument/2006/relationships/image" Target="../media/image16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5.sv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.bin"/><Relationship Id="rId5" Type="http://schemas.openxmlformats.org/officeDocument/2006/relationships/image" Target="../media/image3.png"/><Relationship Id="rId4" Type="http://schemas.openxmlformats.org/officeDocument/2006/relationships/image" Target="../media/image16.svg"/><Relationship Id="rId9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3.png"/><Relationship Id="rId4" Type="http://schemas.openxmlformats.org/officeDocument/2006/relationships/image" Target="../media/image16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image" Target="../media/image3.png"/><Relationship Id="rId4" Type="http://schemas.openxmlformats.org/officeDocument/2006/relationships/image" Target="../media/image16.sv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svg"/><Relationship Id="rId3" Type="http://schemas.openxmlformats.org/officeDocument/2006/relationships/image" Target="../media/image15.sv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5" Type="http://schemas.openxmlformats.org/officeDocument/2006/relationships/image" Target="../media/image3.png"/><Relationship Id="rId4" Type="http://schemas.openxmlformats.org/officeDocument/2006/relationships/image" Target="../media/image16.sv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svg"/><Relationship Id="rId3" Type="http://schemas.openxmlformats.org/officeDocument/2006/relationships/image" Target="../media/image15.sv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png"/><Relationship Id="rId5" Type="http://schemas.openxmlformats.org/officeDocument/2006/relationships/image" Target="../media/image3.png"/><Relationship Id="rId4" Type="http://schemas.openxmlformats.org/officeDocument/2006/relationships/image" Target="../media/image16.sv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15.sv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4.bin"/><Relationship Id="rId5" Type="http://schemas.openxmlformats.org/officeDocument/2006/relationships/image" Target="../media/image3.png"/><Relationship Id="rId4" Type="http://schemas.openxmlformats.org/officeDocument/2006/relationships/image" Target="../media/image16.svg"/><Relationship Id="rId9" Type="http://schemas.openxmlformats.org/officeDocument/2006/relationships/image" Target="../media/image3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16.sv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15.svg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.png"/><Relationship Id="rId5" Type="http://schemas.openxmlformats.org/officeDocument/2006/relationships/image" Target="../media/image3.png"/><Relationship Id="rId4" Type="http://schemas.openxmlformats.org/officeDocument/2006/relationships/image" Target="../media/image16.sv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hyperlink" Target="mailto:anonyme_842@ssmarket.fr" TargetMode="External"/><Relationship Id="rId3" Type="http://schemas.openxmlformats.org/officeDocument/2006/relationships/image" Target="../media/image15.svg"/><Relationship Id="rId7" Type="http://schemas.openxmlformats.org/officeDocument/2006/relationships/hyperlink" Target="mailto:jean.dupond@gmail.com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9.png"/><Relationship Id="rId5" Type="http://schemas.openxmlformats.org/officeDocument/2006/relationships/image" Target="../media/image3.png"/><Relationship Id="rId4" Type="http://schemas.openxmlformats.org/officeDocument/2006/relationships/image" Target="../media/image16.sv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0.png"/><Relationship Id="rId5" Type="http://schemas.openxmlformats.org/officeDocument/2006/relationships/image" Target="../media/image3.png"/><Relationship Id="rId4" Type="http://schemas.openxmlformats.org/officeDocument/2006/relationships/image" Target="../media/image16.sv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16.sv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16.sv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16.sv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16.sv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sv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15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28700" y="1028700"/>
            <a:ext cx="13824756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TextBox 3"/>
          <p:cNvSpPr txBox="1"/>
          <p:nvPr/>
        </p:nvSpPr>
        <p:spPr>
          <a:xfrm>
            <a:off x="1028700" y="2390709"/>
            <a:ext cx="17259300" cy="37450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910"/>
              </a:lnSpc>
            </a:pPr>
            <a:r>
              <a:rPr lang="en-US" sz="5373" b="1">
                <a:solidFill>
                  <a:srgbClr val="000000"/>
                </a:solidFill>
                <a:latin typeface="TS Qamus Bold"/>
                <a:ea typeface="TS Qamus Bold"/>
                <a:cs typeface="TS Qamus Bold"/>
                <a:sym typeface="TS Qamus Bold"/>
              </a:rPr>
              <a:t>Projet 4  </a:t>
            </a:r>
          </a:p>
          <a:p>
            <a:pPr algn="l">
              <a:lnSpc>
                <a:spcPts val="5910"/>
              </a:lnSpc>
            </a:pPr>
            <a:endParaRPr lang="en-US" sz="5373" b="1">
              <a:solidFill>
                <a:srgbClr val="000000"/>
              </a:solidFill>
              <a:latin typeface="TS Qamus Bold"/>
              <a:ea typeface="TS Qamus Bold"/>
              <a:cs typeface="TS Qamus Bold"/>
              <a:sym typeface="TS Qamus Bold"/>
            </a:endParaRPr>
          </a:p>
          <a:p>
            <a:pPr algn="ctr">
              <a:lnSpc>
                <a:spcPts val="5910"/>
              </a:lnSpc>
            </a:pPr>
            <a:r>
              <a:rPr lang="en-US" sz="5373" b="1">
                <a:solidFill>
                  <a:srgbClr val="000000"/>
                </a:solidFill>
                <a:latin typeface="TS Qamus Bold"/>
                <a:ea typeface="TS Qamus Bold"/>
                <a:cs typeface="TS Qamus Bold"/>
                <a:sym typeface="TS Qamus Bold"/>
              </a:rPr>
              <a:t>Auditez un environnement de données</a:t>
            </a:r>
          </a:p>
          <a:p>
            <a:pPr algn="l">
              <a:lnSpc>
                <a:spcPts val="5910"/>
              </a:lnSpc>
            </a:pPr>
            <a:endParaRPr lang="en-US" sz="5373" b="1">
              <a:solidFill>
                <a:srgbClr val="000000"/>
              </a:solidFill>
              <a:latin typeface="TS Qamus Bold"/>
              <a:ea typeface="TS Qamus Bold"/>
              <a:cs typeface="TS Qamus Bold"/>
              <a:sym typeface="TS Qamus Bold"/>
            </a:endParaRPr>
          </a:p>
          <a:p>
            <a:pPr marL="0" lvl="0" indent="0" algn="l">
              <a:lnSpc>
                <a:spcPts val="5910"/>
              </a:lnSpc>
            </a:pPr>
            <a:endParaRPr lang="en-US" sz="5373" b="1">
              <a:solidFill>
                <a:srgbClr val="000000"/>
              </a:solidFill>
              <a:latin typeface="TS Qamus Bold"/>
              <a:ea typeface="TS Qamus Bold"/>
              <a:cs typeface="TS Qamus Bold"/>
              <a:sym typeface="TS Qamus Bold"/>
            </a:endParaRPr>
          </a:p>
        </p:txBody>
      </p:sp>
      <p:grpSp>
        <p:nvGrpSpPr>
          <p:cNvPr id="4" name="Group 4"/>
          <p:cNvGrpSpPr/>
          <p:nvPr/>
        </p:nvGrpSpPr>
        <p:grpSpPr>
          <a:xfrm>
            <a:off x="621711" y="2668111"/>
            <a:ext cx="316405" cy="316405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4A39F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 rot="-5650611">
            <a:off x="13479480" y="5476765"/>
            <a:ext cx="6516949" cy="6932925"/>
          </a:xfrm>
          <a:custGeom>
            <a:avLst/>
            <a:gdLst/>
            <a:ahLst/>
            <a:cxnLst/>
            <a:rect l="l" t="t" r="r" b="b"/>
            <a:pathLst>
              <a:path w="6516949" h="6932925">
                <a:moveTo>
                  <a:pt x="0" y="0"/>
                </a:moveTo>
                <a:lnTo>
                  <a:pt x="6516950" y="0"/>
                </a:lnTo>
                <a:lnTo>
                  <a:pt x="6516950" y="6932925"/>
                </a:lnTo>
                <a:lnTo>
                  <a:pt x="0" y="693292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1400031" y="7859451"/>
            <a:ext cx="5192177" cy="4114800"/>
          </a:xfrm>
          <a:custGeom>
            <a:avLst/>
            <a:gdLst/>
            <a:ahLst/>
            <a:cxnLst/>
            <a:rect l="l" t="t" r="r" b="b"/>
            <a:pathLst>
              <a:path w="5192177" h="4114800">
                <a:moveTo>
                  <a:pt x="0" y="0"/>
                </a:moveTo>
                <a:lnTo>
                  <a:pt x="5192177" y="0"/>
                </a:lnTo>
                <a:lnTo>
                  <a:pt x="519217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5181637" y="763741"/>
            <a:ext cx="2858494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1">
                <a:solidFill>
                  <a:srgbClr val="000000"/>
                </a:solidFill>
                <a:latin typeface="TS Qamus Bold"/>
                <a:ea typeface="TS Qamus Bold"/>
                <a:cs typeface="TS Qamus Bold"/>
                <a:sym typeface="TS Qamus Bold"/>
              </a:rPr>
              <a:t>Année 2025-2026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21711" y="8443912"/>
            <a:ext cx="7626580" cy="162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9"/>
              </a:lnSpc>
              <a:spcBef>
                <a:spcPct val="0"/>
              </a:spcBef>
            </a:pPr>
            <a:r>
              <a:rPr lang="en-US" sz="2499" b="1">
                <a:solidFill>
                  <a:srgbClr val="000000"/>
                </a:solidFill>
                <a:latin typeface="TS Qamus Bold"/>
                <a:ea typeface="TS Qamus Bold"/>
                <a:cs typeface="TS Qamus Bold"/>
                <a:sym typeface="TS Qamus Bold"/>
              </a:rPr>
              <a:t>Candidat :  Mr Jean-Francois Chaussoy </a:t>
            </a:r>
          </a:p>
          <a:p>
            <a:pPr algn="l">
              <a:lnSpc>
                <a:spcPts val="2733"/>
              </a:lnSpc>
              <a:spcBef>
                <a:spcPct val="0"/>
              </a:spcBef>
            </a:pPr>
            <a:r>
              <a:rPr lang="en-US" sz="2277" b="1">
                <a:solidFill>
                  <a:srgbClr val="000000"/>
                </a:solidFill>
                <a:latin typeface="TS Qamus Bold"/>
                <a:ea typeface="TS Qamus Bold"/>
                <a:cs typeface="TS Qamus Bold"/>
                <a:sym typeface="TS Qamus Bold"/>
              </a:rPr>
              <a:t>         </a:t>
            </a:r>
          </a:p>
          <a:p>
            <a:pPr algn="l">
              <a:lnSpc>
                <a:spcPts val="3600"/>
              </a:lnSpc>
              <a:spcBef>
                <a:spcPct val="0"/>
              </a:spcBef>
            </a:pPr>
            <a:r>
              <a:rPr lang="en-US" sz="3000" b="1">
                <a:solidFill>
                  <a:srgbClr val="000000"/>
                </a:solidFill>
                <a:latin typeface="TS Qamus Bold"/>
                <a:ea typeface="TS Qamus Bold"/>
                <a:cs typeface="TS Qamus Bold"/>
                <a:sym typeface="TS Qamus Bold"/>
              </a:rPr>
              <a:t>Alternant Data Engineering</a:t>
            </a:r>
          </a:p>
          <a:p>
            <a:pPr algn="l">
              <a:lnSpc>
                <a:spcPts val="3600"/>
              </a:lnSpc>
              <a:spcBef>
                <a:spcPct val="0"/>
              </a:spcBef>
            </a:pPr>
            <a:endParaRPr lang="en-US" sz="3000" b="1">
              <a:solidFill>
                <a:srgbClr val="000000"/>
              </a:solidFill>
              <a:latin typeface="TS Qamus Bold"/>
              <a:ea typeface="TS Qamus Bold"/>
              <a:cs typeface="TS Qamus Bold"/>
              <a:sym typeface="TS Qamus Bold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1666781" y="1457325"/>
            <a:ext cx="6373350" cy="8952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99"/>
              </a:lnSpc>
              <a:spcBef>
                <a:spcPct val="0"/>
              </a:spcBef>
            </a:pPr>
            <a:r>
              <a:rPr lang="en-US" sz="2999" b="1">
                <a:solidFill>
                  <a:srgbClr val="000000"/>
                </a:solidFill>
                <a:latin typeface="TS Qamus Bold"/>
                <a:ea typeface="TS Qamus Bold"/>
                <a:cs typeface="TS Qamus Bold"/>
                <a:sym typeface="TS Qamus Bold"/>
              </a:rPr>
              <a:t>Mentor :  Mr Arnol Namegni </a:t>
            </a:r>
          </a:p>
          <a:p>
            <a:pPr algn="ctr">
              <a:lnSpc>
                <a:spcPts val="3599"/>
              </a:lnSpc>
              <a:spcBef>
                <a:spcPct val="0"/>
              </a:spcBef>
            </a:pPr>
            <a:endParaRPr lang="en-US" sz="2999" b="1">
              <a:solidFill>
                <a:srgbClr val="000000"/>
              </a:solidFill>
              <a:latin typeface="TS Qamus Bold"/>
              <a:ea typeface="TS Qamus Bold"/>
              <a:cs typeface="TS Qamus Bold"/>
              <a:sym typeface="TS Qamus Bold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406989" y="5262317"/>
            <a:ext cx="16230600" cy="534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73"/>
              </a:lnSpc>
              <a:spcBef>
                <a:spcPct val="0"/>
              </a:spcBef>
            </a:pPr>
            <a:r>
              <a:rPr lang="en-US" sz="3394" b="1">
                <a:solidFill>
                  <a:srgbClr val="000000"/>
                </a:solidFill>
                <a:latin typeface="TS Qamus Bold"/>
                <a:ea typeface="TS Qamus Bold"/>
                <a:cs typeface="TS Qamus Bold"/>
                <a:sym typeface="TS Qamus Bold"/>
              </a:rPr>
              <a:t>Audit SuperSmartMarket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16592208" y="8686175"/>
            <a:ext cx="1144250" cy="1144250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155617" y="0"/>
                  </a:moveTo>
                  <a:lnTo>
                    <a:pt x="657183" y="0"/>
                  </a:lnTo>
                  <a:cubicBezTo>
                    <a:pt x="743128" y="0"/>
                    <a:pt x="812800" y="69672"/>
                    <a:pt x="812800" y="155617"/>
                  </a:cubicBezTo>
                  <a:lnTo>
                    <a:pt x="812800" y="657183"/>
                  </a:lnTo>
                  <a:cubicBezTo>
                    <a:pt x="812800" y="743128"/>
                    <a:pt x="743128" y="812800"/>
                    <a:pt x="657183" y="812800"/>
                  </a:cubicBezTo>
                  <a:lnTo>
                    <a:pt x="155617" y="812800"/>
                  </a:lnTo>
                  <a:cubicBezTo>
                    <a:pt x="69672" y="812800"/>
                    <a:pt x="0" y="743128"/>
                    <a:pt x="0" y="657183"/>
                  </a:cubicBezTo>
                  <a:lnTo>
                    <a:pt x="0" y="155617"/>
                  </a:lnTo>
                  <a:cubicBezTo>
                    <a:pt x="0" y="69672"/>
                    <a:pt x="69672" y="0"/>
                    <a:pt x="155617" y="0"/>
                  </a:cubicBezTo>
                  <a:close/>
                </a:path>
              </a:pathLst>
            </a:custGeom>
            <a:blipFill>
              <a:blip r:embed="rId5"/>
              <a:stretch>
                <a:fillRect l="-74960" t="-12657" r="-80133" b="-30195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650611">
            <a:off x="16414480" y="5331468"/>
            <a:ext cx="6516949" cy="6932925"/>
          </a:xfrm>
          <a:custGeom>
            <a:avLst/>
            <a:gdLst/>
            <a:ahLst/>
            <a:cxnLst/>
            <a:rect l="l" t="t" r="r" b="b"/>
            <a:pathLst>
              <a:path w="6516949" h="6932925">
                <a:moveTo>
                  <a:pt x="0" y="0"/>
                </a:moveTo>
                <a:lnTo>
                  <a:pt x="6516949" y="0"/>
                </a:lnTo>
                <a:lnTo>
                  <a:pt x="6516949" y="6932925"/>
                </a:lnTo>
                <a:lnTo>
                  <a:pt x="0" y="693292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2940784" y="7888511"/>
            <a:ext cx="5192177" cy="4114800"/>
          </a:xfrm>
          <a:custGeom>
            <a:avLst/>
            <a:gdLst/>
            <a:ahLst/>
            <a:cxnLst/>
            <a:rect l="l" t="t" r="r" b="b"/>
            <a:pathLst>
              <a:path w="5192177" h="4114800">
                <a:moveTo>
                  <a:pt x="0" y="0"/>
                </a:moveTo>
                <a:lnTo>
                  <a:pt x="5192177" y="0"/>
                </a:lnTo>
                <a:lnTo>
                  <a:pt x="519217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028700" y="185316"/>
            <a:ext cx="16230600" cy="7048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400"/>
              </a:lnSpc>
              <a:spcBef>
                <a:spcPct val="0"/>
              </a:spcBef>
            </a:pPr>
            <a:r>
              <a:rPr lang="en-US" sz="4500" b="1">
                <a:solidFill>
                  <a:srgbClr val="000000"/>
                </a:solidFill>
                <a:latin typeface="TS Qamus Bold"/>
                <a:ea typeface="TS Qamus Bold"/>
                <a:cs typeface="TS Qamus Bold"/>
                <a:sym typeface="TS Qamus Bold"/>
              </a:rPr>
              <a:t> Remise de l’Audit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9011663" y="1028700"/>
            <a:ext cx="264674" cy="264674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B907C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6924170" y="204366"/>
            <a:ext cx="1144250" cy="1144250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155617" y="0"/>
                  </a:moveTo>
                  <a:lnTo>
                    <a:pt x="657183" y="0"/>
                  </a:lnTo>
                  <a:cubicBezTo>
                    <a:pt x="743128" y="0"/>
                    <a:pt x="812800" y="69672"/>
                    <a:pt x="812800" y="155617"/>
                  </a:cubicBezTo>
                  <a:lnTo>
                    <a:pt x="812800" y="657183"/>
                  </a:lnTo>
                  <a:cubicBezTo>
                    <a:pt x="812800" y="743128"/>
                    <a:pt x="743128" y="812800"/>
                    <a:pt x="657183" y="812800"/>
                  </a:cubicBezTo>
                  <a:lnTo>
                    <a:pt x="155617" y="812800"/>
                  </a:lnTo>
                  <a:cubicBezTo>
                    <a:pt x="69672" y="812800"/>
                    <a:pt x="0" y="743128"/>
                    <a:pt x="0" y="657183"/>
                  </a:cubicBezTo>
                  <a:lnTo>
                    <a:pt x="0" y="155617"/>
                  </a:lnTo>
                  <a:cubicBezTo>
                    <a:pt x="0" y="69672"/>
                    <a:pt x="69672" y="0"/>
                    <a:pt x="155617" y="0"/>
                  </a:cubicBezTo>
                  <a:close/>
                </a:path>
              </a:pathLst>
            </a:custGeom>
            <a:blipFill>
              <a:blip r:embed="rId5"/>
              <a:stretch>
                <a:fillRect l="-74960" t="-12657" r="-80133" b="-30195"/>
              </a:stretch>
            </a:blipFill>
          </p:spPr>
        </p:sp>
      </p:grpSp>
      <p:sp>
        <p:nvSpPr>
          <p:cNvPr id="10" name="Freeform 10"/>
          <p:cNvSpPr/>
          <p:nvPr/>
        </p:nvSpPr>
        <p:spPr>
          <a:xfrm>
            <a:off x="8314712" y="3035878"/>
            <a:ext cx="1571714" cy="1571714"/>
          </a:xfrm>
          <a:custGeom>
            <a:avLst/>
            <a:gdLst/>
            <a:ahLst/>
            <a:cxnLst/>
            <a:rect l="l" t="t" r="r" b="b"/>
            <a:pathLst>
              <a:path w="1571714" h="1571714">
                <a:moveTo>
                  <a:pt x="0" y="0"/>
                </a:moveTo>
                <a:lnTo>
                  <a:pt x="1571714" y="0"/>
                </a:lnTo>
                <a:lnTo>
                  <a:pt x="1571714" y="1571714"/>
                </a:lnTo>
                <a:lnTo>
                  <a:pt x="0" y="157171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1623148" y="1878413"/>
            <a:ext cx="264674" cy="264674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B907C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>
            <a:off x="12936244" y="2143087"/>
            <a:ext cx="4560051" cy="5867478"/>
          </a:xfrm>
          <a:custGeom>
            <a:avLst/>
            <a:gdLst/>
            <a:ahLst/>
            <a:cxnLst/>
            <a:rect l="l" t="t" r="r" b="b"/>
            <a:pathLst>
              <a:path w="4560051" h="5867478">
                <a:moveTo>
                  <a:pt x="0" y="0"/>
                </a:moveTo>
                <a:lnTo>
                  <a:pt x="4560051" y="0"/>
                </a:lnTo>
                <a:lnTo>
                  <a:pt x="4560051" y="5867478"/>
                </a:lnTo>
                <a:lnTo>
                  <a:pt x="0" y="586747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4563354" y="5083842"/>
            <a:ext cx="8896617" cy="37140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9"/>
              </a:lnSpc>
              <a:spcBef>
                <a:spcPct val="0"/>
              </a:spcBef>
            </a:pPr>
            <a:r>
              <a:rPr lang="en-US" sz="2499" u="sng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Les 3 Phases de l'Audit :</a:t>
            </a:r>
          </a:p>
          <a:p>
            <a:pPr algn="l">
              <a:lnSpc>
                <a:spcPts val="2999"/>
              </a:lnSpc>
              <a:spcBef>
                <a:spcPct val="0"/>
              </a:spcBef>
            </a:pPr>
            <a:endParaRPr lang="en-US" sz="2499" u="sng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539749" lvl="1" indent="-269875" algn="l">
              <a:lnSpc>
                <a:spcPts val="29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Phase 1 : Audit de l'architecture (Modèle en Étoile).</a:t>
            </a:r>
          </a:p>
          <a:p>
            <a:pPr marL="539749" lvl="1" indent="-269875" algn="l">
              <a:lnSpc>
                <a:spcPts val="29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Phase 2 : Enquête technique sur le delta de CA.</a:t>
            </a:r>
          </a:p>
          <a:p>
            <a:pPr marL="539749" lvl="1" indent="-269875" algn="l">
              <a:lnSpc>
                <a:spcPts val="29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Phase 3 : Plan de résilience et mesures correctives.</a:t>
            </a:r>
          </a:p>
          <a:p>
            <a:pPr algn="l">
              <a:lnSpc>
                <a:spcPts val="2999"/>
              </a:lnSpc>
              <a:spcBef>
                <a:spcPct val="0"/>
              </a:spcBef>
            </a:pPr>
            <a:endParaRPr lang="en-US" sz="2499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l">
              <a:lnSpc>
                <a:spcPts val="2999"/>
              </a:lnSpc>
              <a:spcBef>
                <a:spcPct val="0"/>
              </a:spcBef>
            </a:pPr>
            <a:r>
              <a:rPr lang="en-US" sz="2499" u="sng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Chiffre Clé : </a:t>
            </a:r>
          </a:p>
          <a:p>
            <a:pPr algn="l">
              <a:lnSpc>
                <a:spcPts val="2999"/>
              </a:lnSpc>
              <a:spcBef>
                <a:spcPct val="0"/>
              </a:spcBef>
            </a:pPr>
            <a:endParaRPr lang="en-US" sz="2499" u="sng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539749" lvl="1" indent="-269875" algn="l">
              <a:lnSpc>
                <a:spcPts val="29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+200 000 lignes de logs passées au crible.</a:t>
            </a:r>
          </a:p>
          <a:p>
            <a:pPr algn="l">
              <a:lnSpc>
                <a:spcPts val="2999"/>
              </a:lnSpc>
            </a:pPr>
            <a:endParaRPr lang="en-US" sz="2499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2112095" y="1787421"/>
            <a:ext cx="4648564" cy="3556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49"/>
              </a:lnSpc>
              <a:spcBef>
                <a:spcPct val="0"/>
              </a:spcBef>
            </a:pPr>
            <a:r>
              <a:rPr lang="en-US" sz="2499" b="1">
                <a:solidFill>
                  <a:srgbClr val="000000"/>
                </a:solidFill>
                <a:latin typeface="TS Qamus Bold"/>
                <a:ea typeface="TS Qamus Bold"/>
                <a:cs typeface="TS Qamus Bold"/>
                <a:sym typeface="TS Qamus Bold"/>
              </a:rPr>
              <a:t>Remise du Rapport d’audit :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129183" y="9644352"/>
            <a:ext cx="10371058" cy="3015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TS Qamus"/>
                <a:ea typeface="TS Qamus"/>
                <a:cs typeface="TS Qamus"/>
                <a:sym typeface="TS Qamus"/>
              </a:rPr>
              <a:t>Livrable officiel : Rapport d'Audit technique complet fourni en support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593781"/>
            <a:ext cx="16230600" cy="7048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400"/>
              </a:lnSpc>
              <a:spcBef>
                <a:spcPct val="0"/>
              </a:spcBef>
            </a:pPr>
            <a:r>
              <a:rPr lang="en-US" sz="4500" b="1">
                <a:solidFill>
                  <a:srgbClr val="000000"/>
                </a:solidFill>
                <a:latin typeface="TS Qamus Bold"/>
                <a:ea typeface="TS Qamus Bold"/>
                <a:cs typeface="TS Qamus Bold"/>
                <a:sym typeface="TS Qamus Bold"/>
              </a:rPr>
              <a:t> Contexte et Problématique de l'Audit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511591" y="1562932"/>
            <a:ext cx="264674" cy="264674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B907C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367938" y="2147331"/>
            <a:ext cx="565310" cy="565310"/>
            <a:chOff x="0" y="0"/>
            <a:chExt cx="6350000" cy="63500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5CE1E6"/>
            </a:solidFill>
          </p:spPr>
        </p:sp>
      </p:grpSp>
      <p:sp>
        <p:nvSpPr>
          <p:cNvPr id="8" name="Freeform 8"/>
          <p:cNvSpPr/>
          <p:nvPr/>
        </p:nvSpPr>
        <p:spPr>
          <a:xfrm rot="4406544">
            <a:off x="-1139480" y="8446798"/>
            <a:ext cx="6145454" cy="5776727"/>
          </a:xfrm>
          <a:custGeom>
            <a:avLst/>
            <a:gdLst/>
            <a:ahLst/>
            <a:cxnLst/>
            <a:rect l="l" t="t" r="r" b="b"/>
            <a:pathLst>
              <a:path w="6145454" h="5776727">
                <a:moveTo>
                  <a:pt x="0" y="0"/>
                </a:moveTo>
                <a:lnTo>
                  <a:pt x="6145454" y="0"/>
                </a:lnTo>
                <a:lnTo>
                  <a:pt x="6145454" y="5776727"/>
                </a:lnTo>
                <a:lnTo>
                  <a:pt x="0" y="577672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1367938" y="3561374"/>
            <a:ext cx="565310" cy="565310"/>
            <a:chOff x="0" y="0"/>
            <a:chExt cx="6350000" cy="63500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CB6CE6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1367938" y="7485447"/>
            <a:ext cx="565310" cy="565310"/>
            <a:chOff x="0" y="0"/>
            <a:chExt cx="6350000" cy="63500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3131"/>
            </a:solidFill>
          </p:spPr>
        </p:sp>
      </p:grpSp>
      <p:sp>
        <p:nvSpPr>
          <p:cNvPr id="13" name="TextBox 13"/>
          <p:cNvSpPr txBox="1"/>
          <p:nvPr/>
        </p:nvSpPr>
        <p:spPr>
          <a:xfrm>
            <a:off x="2216496" y="2129643"/>
            <a:ext cx="15042804" cy="83681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83"/>
              </a:lnSpc>
            </a:pPr>
            <a:r>
              <a:rPr lang="en-US" sz="2537" b="1">
                <a:solidFill>
                  <a:srgbClr val="000000"/>
                </a:solidFill>
                <a:latin typeface="TS Qamus Bold"/>
                <a:ea typeface="TS Qamus Bold"/>
                <a:cs typeface="TS Qamus Bold"/>
                <a:sym typeface="TS Qamus Bold"/>
              </a:rPr>
              <a:t>La situation :</a:t>
            </a:r>
          </a:p>
          <a:p>
            <a:pPr algn="l">
              <a:lnSpc>
                <a:spcPts val="3983"/>
              </a:lnSpc>
              <a:spcBef>
                <a:spcPct val="0"/>
              </a:spcBef>
            </a:pPr>
            <a:r>
              <a:rPr lang="en-US" sz="2537">
                <a:solidFill>
                  <a:srgbClr val="000000"/>
                </a:solidFill>
                <a:latin typeface="TS Qamus"/>
                <a:ea typeface="TS Qamus"/>
                <a:cs typeface="TS Qamus"/>
                <a:sym typeface="TS Qamus"/>
              </a:rPr>
              <a:t>Une extraction OLAP pour le 14 août 2024 montre des instabilités temporelles.</a:t>
            </a:r>
          </a:p>
          <a:p>
            <a:pPr algn="l">
              <a:lnSpc>
                <a:spcPts val="2511"/>
              </a:lnSpc>
              <a:spcBef>
                <a:spcPct val="0"/>
              </a:spcBef>
            </a:pPr>
            <a:endParaRPr lang="en-US" sz="2537">
              <a:solidFill>
                <a:srgbClr val="000000"/>
              </a:solidFill>
              <a:latin typeface="TS Qamus"/>
              <a:ea typeface="TS Qamus"/>
              <a:cs typeface="TS Qamus"/>
              <a:sym typeface="TS Qamus"/>
            </a:endParaRPr>
          </a:p>
          <a:p>
            <a:pPr algn="l">
              <a:lnSpc>
                <a:spcPts val="3983"/>
              </a:lnSpc>
              <a:spcBef>
                <a:spcPct val="0"/>
              </a:spcBef>
            </a:pPr>
            <a:r>
              <a:rPr lang="en-US" sz="2537" b="1">
                <a:solidFill>
                  <a:srgbClr val="000000"/>
                </a:solidFill>
                <a:latin typeface="TS Qamus Bold"/>
                <a:ea typeface="TS Qamus Bold"/>
                <a:cs typeface="TS Qamus Bold"/>
                <a:sym typeface="TS Qamus Bold"/>
              </a:rPr>
              <a:t>L'anomalie déclencheuse (Lundi 14 août) :</a:t>
            </a:r>
          </a:p>
          <a:p>
            <a:pPr algn="l">
              <a:lnSpc>
                <a:spcPts val="3983"/>
              </a:lnSpc>
            </a:pPr>
            <a:r>
              <a:rPr lang="en-US" sz="2537">
                <a:solidFill>
                  <a:srgbClr val="000000"/>
                </a:solidFill>
                <a:latin typeface="TS Qamus"/>
                <a:ea typeface="TS Qamus"/>
                <a:cs typeface="TS Qamus"/>
                <a:sym typeface="TS Qamus"/>
              </a:rPr>
              <a:t>    </a:t>
            </a:r>
          </a:p>
          <a:p>
            <a:pPr algn="l">
              <a:lnSpc>
                <a:spcPts val="3983"/>
              </a:lnSpc>
            </a:pPr>
            <a:endParaRPr lang="en-US" sz="2537">
              <a:solidFill>
                <a:srgbClr val="000000"/>
              </a:solidFill>
              <a:latin typeface="TS Qamus"/>
              <a:ea typeface="TS Qamus"/>
              <a:cs typeface="TS Qamus"/>
              <a:sym typeface="TS Qamus"/>
            </a:endParaRPr>
          </a:p>
          <a:p>
            <a:pPr algn="l">
              <a:lnSpc>
                <a:spcPts val="3983"/>
              </a:lnSpc>
              <a:spcBef>
                <a:spcPct val="0"/>
              </a:spcBef>
            </a:pPr>
            <a:endParaRPr lang="en-US" sz="2537">
              <a:solidFill>
                <a:srgbClr val="000000"/>
              </a:solidFill>
              <a:latin typeface="TS Qamus"/>
              <a:ea typeface="TS Qamus"/>
              <a:cs typeface="TS Qamus"/>
              <a:sym typeface="TS Qamus"/>
            </a:endParaRPr>
          </a:p>
          <a:p>
            <a:pPr algn="l">
              <a:lnSpc>
                <a:spcPts val="3983"/>
              </a:lnSpc>
              <a:spcBef>
                <a:spcPct val="0"/>
              </a:spcBef>
            </a:pPr>
            <a:endParaRPr lang="en-US" sz="2537">
              <a:solidFill>
                <a:srgbClr val="000000"/>
              </a:solidFill>
              <a:latin typeface="TS Qamus"/>
              <a:ea typeface="TS Qamus"/>
              <a:cs typeface="TS Qamus"/>
              <a:sym typeface="TS Qamus"/>
            </a:endParaRPr>
          </a:p>
          <a:p>
            <a:pPr algn="l">
              <a:lnSpc>
                <a:spcPts val="3983"/>
              </a:lnSpc>
              <a:spcBef>
                <a:spcPct val="0"/>
              </a:spcBef>
            </a:pPr>
            <a:endParaRPr lang="en-US" sz="2537">
              <a:solidFill>
                <a:srgbClr val="000000"/>
              </a:solidFill>
              <a:latin typeface="TS Qamus"/>
              <a:ea typeface="TS Qamus"/>
              <a:cs typeface="TS Qamus"/>
              <a:sym typeface="TS Qamus"/>
            </a:endParaRPr>
          </a:p>
          <a:p>
            <a:pPr algn="l">
              <a:lnSpc>
                <a:spcPts val="3983"/>
              </a:lnSpc>
              <a:spcBef>
                <a:spcPct val="0"/>
              </a:spcBef>
            </a:pPr>
            <a:endParaRPr lang="en-US" sz="2537">
              <a:solidFill>
                <a:srgbClr val="000000"/>
              </a:solidFill>
              <a:latin typeface="TS Qamus"/>
              <a:ea typeface="TS Qamus"/>
              <a:cs typeface="TS Qamus"/>
              <a:sym typeface="TS Qamus"/>
            </a:endParaRPr>
          </a:p>
          <a:p>
            <a:pPr algn="l">
              <a:lnSpc>
                <a:spcPts val="3983"/>
              </a:lnSpc>
              <a:spcBef>
                <a:spcPct val="0"/>
              </a:spcBef>
            </a:pPr>
            <a:endParaRPr lang="en-US" sz="2537">
              <a:solidFill>
                <a:srgbClr val="000000"/>
              </a:solidFill>
              <a:latin typeface="TS Qamus"/>
              <a:ea typeface="TS Qamus"/>
              <a:cs typeface="TS Qamus"/>
              <a:sym typeface="TS Qamus"/>
            </a:endParaRPr>
          </a:p>
          <a:p>
            <a:pPr algn="l">
              <a:lnSpc>
                <a:spcPts val="3983"/>
              </a:lnSpc>
            </a:pPr>
            <a:r>
              <a:rPr lang="en-US" sz="2537" b="1">
                <a:solidFill>
                  <a:srgbClr val="000000"/>
                </a:solidFill>
                <a:latin typeface="TS Qamus Bold"/>
                <a:ea typeface="TS Qamus Bold"/>
                <a:cs typeface="TS Qamus Bold"/>
                <a:sym typeface="TS Qamus Bold"/>
              </a:rPr>
              <a:t>Objectifs de la mission : </a:t>
            </a:r>
          </a:p>
          <a:p>
            <a:pPr algn="ctr">
              <a:lnSpc>
                <a:spcPts val="3983"/>
              </a:lnSpc>
            </a:pPr>
            <a:r>
              <a:rPr lang="en-US" sz="2537">
                <a:solidFill>
                  <a:srgbClr val="000000"/>
                </a:solidFill>
                <a:latin typeface="TS Qamus"/>
                <a:ea typeface="TS Qamus"/>
                <a:cs typeface="TS Qamus"/>
                <a:sym typeface="TS Qamus"/>
              </a:rPr>
              <a:t>Auditer l'architecture et la qualité de la donnée.</a:t>
            </a:r>
          </a:p>
          <a:p>
            <a:pPr algn="ctr">
              <a:lnSpc>
                <a:spcPts val="3983"/>
              </a:lnSpc>
            </a:pPr>
            <a:r>
              <a:rPr lang="en-US" sz="2537">
                <a:solidFill>
                  <a:srgbClr val="000000"/>
                </a:solidFill>
                <a:latin typeface="TS Qamus"/>
                <a:ea typeface="TS Qamus"/>
                <a:cs typeface="TS Qamus"/>
                <a:sym typeface="TS Qamus"/>
              </a:rPr>
              <a:t>Expliquer l'origine mathématique et technique du delta de +9 057,29 €.</a:t>
            </a:r>
          </a:p>
          <a:p>
            <a:pPr algn="ctr">
              <a:lnSpc>
                <a:spcPts val="3983"/>
              </a:lnSpc>
            </a:pPr>
            <a:r>
              <a:rPr lang="en-US" sz="2537">
                <a:solidFill>
                  <a:srgbClr val="000000"/>
                </a:solidFill>
                <a:latin typeface="TS Qamus"/>
                <a:ea typeface="TS Qamus"/>
                <a:cs typeface="TS Qamus"/>
                <a:sym typeface="TS Qamus"/>
              </a:rPr>
              <a:t>Sécuriser le système via un prototype pérenne.</a:t>
            </a:r>
          </a:p>
          <a:p>
            <a:pPr algn="l">
              <a:lnSpc>
                <a:spcPts val="3983"/>
              </a:lnSpc>
              <a:spcBef>
                <a:spcPct val="0"/>
              </a:spcBef>
            </a:pPr>
            <a:endParaRPr lang="en-US" sz="2537">
              <a:solidFill>
                <a:srgbClr val="000000"/>
              </a:solidFill>
              <a:latin typeface="TS Qamus"/>
              <a:ea typeface="TS Qamus"/>
              <a:cs typeface="TS Qamus"/>
              <a:sym typeface="TS Qamus"/>
            </a:endParaRPr>
          </a:p>
          <a:p>
            <a:pPr algn="l">
              <a:lnSpc>
                <a:spcPts val="3983"/>
              </a:lnSpc>
              <a:spcBef>
                <a:spcPct val="0"/>
              </a:spcBef>
            </a:pPr>
            <a:endParaRPr lang="en-US" sz="2537">
              <a:solidFill>
                <a:srgbClr val="000000"/>
              </a:solidFill>
              <a:latin typeface="TS Qamus"/>
              <a:ea typeface="TS Qamus"/>
              <a:cs typeface="TS Qamus"/>
              <a:sym typeface="TS Qamus"/>
            </a:endParaRPr>
          </a:p>
        </p:txBody>
      </p:sp>
      <p:grpSp>
        <p:nvGrpSpPr>
          <p:cNvPr id="14" name="Group 14"/>
          <p:cNvGrpSpPr/>
          <p:nvPr/>
        </p:nvGrpSpPr>
        <p:grpSpPr>
          <a:xfrm>
            <a:off x="16924170" y="204366"/>
            <a:ext cx="1144250" cy="1144250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155617" y="0"/>
                  </a:moveTo>
                  <a:lnTo>
                    <a:pt x="657183" y="0"/>
                  </a:lnTo>
                  <a:cubicBezTo>
                    <a:pt x="743128" y="0"/>
                    <a:pt x="812800" y="69672"/>
                    <a:pt x="812800" y="155617"/>
                  </a:cubicBezTo>
                  <a:lnTo>
                    <a:pt x="812800" y="657183"/>
                  </a:lnTo>
                  <a:cubicBezTo>
                    <a:pt x="812800" y="743128"/>
                    <a:pt x="743128" y="812800"/>
                    <a:pt x="657183" y="812800"/>
                  </a:cubicBezTo>
                  <a:lnTo>
                    <a:pt x="155617" y="812800"/>
                  </a:lnTo>
                  <a:cubicBezTo>
                    <a:pt x="69672" y="812800"/>
                    <a:pt x="0" y="743128"/>
                    <a:pt x="0" y="657183"/>
                  </a:cubicBezTo>
                  <a:lnTo>
                    <a:pt x="0" y="155617"/>
                  </a:lnTo>
                  <a:cubicBezTo>
                    <a:pt x="0" y="69672"/>
                    <a:pt x="69672" y="0"/>
                    <a:pt x="155617" y="0"/>
                  </a:cubicBezTo>
                  <a:close/>
                </a:path>
              </a:pathLst>
            </a:custGeom>
            <a:blipFill>
              <a:blip r:embed="rId4"/>
              <a:stretch>
                <a:fillRect l="-74960" t="-12657" r="-80133" b="-30195"/>
              </a:stretch>
            </a:blipFill>
          </p:spPr>
        </p:sp>
      </p:grpSp>
      <p:sp>
        <p:nvSpPr>
          <p:cNvPr id="16" name="Freeform 16"/>
          <p:cNvSpPr/>
          <p:nvPr/>
        </p:nvSpPr>
        <p:spPr>
          <a:xfrm rot="9897522">
            <a:off x="15036242" y="5803712"/>
            <a:ext cx="1410081" cy="423024"/>
          </a:xfrm>
          <a:custGeom>
            <a:avLst/>
            <a:gdLst/>
            <a:ahLst/>
            <a:cxnLst/>
            <a:rect l="l" t="t" r="r" b="b"/>
            <a:pathLst>
              <a:path w="1410081" h="423024">
                <a:moveTo>
                  <a:pt x="0" y="0"/>
                </a:moveTo>
                <a:lnTo>
                  <a:pt x="1410081" y="0"/>
                </a:lnTo>
                <a:lnTo>
                  <a:pt x="1410081" y="423024"/>
                </a:lnTo>
                <a:lnTo>
                  <a:pt x="0" y="42302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aphicFrame>
        <p:nvGraphicFramePr>
          <p:cNvPr id="17" name="Object 17"/>
          <p:cNvGraphicFramePr/>
          <p:nvPr/>
        </p:nvGraphicFramePr>
        <p:xfrm>
          <a:off x="5182923" y="4126684"/>
          <a:ext cx="13485731" cy="54244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6" imgW="16179800" imgH="8115300" progId="Excel.Sheet.12">
                  <p:embed/>
                </p:oleObj>
              </mc:Choice>
              <mc:Fallback>
                <p:oleObj name="Worksheet" r:id="rId6" imgW="16179800" imgH="81153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5182923" y="4126684"/>
                        <a:ext cx="13485731" cy="542444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8" name="Group 18"/>
          <p:cNvGrpSpPr/>
          <p:nvPr/>
        </p:nvGrpSpPr>
        <p:grpSpPr>
          <a:xfrm>
            <a:off x="5308276" y="8174925"/>
            <a:ext cx="269228" cy="269228"/>
            <a:chOff x="0" y="0"/>
            <a:chExt cx="6350000" cy="63500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DA904C"/>
            </a:solidFill>
          </p:spPr>
        </p:sp>
      </p:grpSp>
      <p:grpSp>
        <p:nvGrpSpPr>
          <p:cNvPr id="20" name="Group 20"/>
          <p:cNvGrpSpPr/>
          <p:nvPr/>
        </p:nvGrpSpPr>
        <p:grpSpPr>
          <a:xfrm>
            <a:off x="3518933" y="8685377"/>
            <a:ext cx="269228" cy="269228"/>
            <a:chOff x="0" y="0"/>
            <a:chExt cx="6350000" cy="63500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DA904C"/>
            </a:solidFill>
          </p:spPr>
        </p:sp>
      </p:grpSp>
      <p:grpSp>
        <p:nvGrpSpPr>
          <p:cNvPr id="22" name="Group 22"/>
          <p:cNvGrpSpPr/>
          <p:nvPr/>
        </p:nvGrpSpPr>
        <p:grpSpPr>
          <a:xfrm>
            <a:off x="5308276" y="9129953"/>
            <a:ext cx="269228" cy="269228"/>
            <a:chOff x="0" y="0"/>
            <a:chExt cx="6350000" cy="63500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DA904C"/>
            </a:solidFill>
          </p:spPr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593781"/>
            <a:ext cx="16230600" cy="7048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400"/>
              </a:lnSpc>
              <a:spcBef>
                <a:spcPct val="0"/>
              </a:spcBef>
            </a:pPr>
            <a:r>
              <a:rPr lang="en-US" sz="4500" b="1">
                <a:solidFill>
                  <a:srgbClr val="000000"/>
                </a:solidFill>
                <a:latin typeface="TS Qamus Bold"/>
                <a:ea typeface="TS Qamus Bold"/>
                <a:cs typeface="TS Qamus Bold"/>
                <a:sym typeface="TS Qamus Bold"/>
              </a:rPr>
              <a:t> Contexte et Problématique de l'Audit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511591" y="1562932"/>
            <a:ext cx="264674" cy="264674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B907C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212746" y="1827606"/>
            <a:ext cx="565310" cy="565310"/>
            <a:chOff x="0" y="0"/>
            <a:chExt cx="6350000" cy="63500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5CE1E6"/>
            </a:solidFill>
          </p:spPr>
        </p:sp>
      </p:grpSp>
      <p:sp>
        <p:nvSpPr>
          <p:cNvPr id="8" name="Freeform 8"/>
          <p:cNvSpPr/>
          <p:nvPr/>
        </p:nvSpPr>
        <p:spPr>
          <a:xfrm rot="4406544">
            <a:off x="-1139480" y="8446798"/>
            <a:ext cx="6145454" cy="5776727"/>
          </a:xfrm>
          <a:custGeom>
            <a:avLst/>
            <a:gdLst/>
            <a:ahLst/>
            <a:cxnLst/>
            <a:rect l="l" t="t" r="r" b="b"/>
            <a:pathLst>
              <a:path w="6145454" h="5776727">
                <a:moveTo>
                  <a:pt x="0" y="0"/>
                </a:moveTo>
                <a:lnTo>
                  <a:pt x="6145454" y="0"/>
                </a:lnTo>
                <a:lnTo>
                  <a:pt x="6145454" y="5776727"/>
                </a:lnTo>
                <a:lnTo>
                  <a:pt x="0" y="577672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212746" y="6075455"/>
            <a:ext cx="565310" cy="565310"/>
            <a:chOff x="0" y="0"/>
            <a:chExt cx="6350000" cy="63500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3131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16924170" y="204366"/>
            <a:ext cx="1144250" cy="1144250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155617" y="0"/>
                  </a:moveTo>
                  <a:lnTo>
                    <a:pt x="657183" y="0"/>
                  </a:lnTo>
                  <a:cubicBezTo>
                    <a:pt x="743128" y="0"/>
                    <a:pt x="812800" y="69672"/>
                    <a:pt x="812800" y="155617"/>
                  </a:cubicBezTo>
                  <a:lnTo>
                    <a:pt x="812800" y="657183"/>
                  </a:lnTo>
                  <a:cubicBezTo>
                    <a:pt x="812800" y="743128"/>
                    <a:pt x="743128" y="812800"/>
                    <a:pt x="657183" y="812800"/>
                  </a:cubicBezTo>
                  <a:lnTo>
                    <a:pt x="155617" y="812800"/>
                  </a:lnTo>
                  <a:cubicBezTo>
                    <a:pt x="69672" y="812800"/>
                    <a:pt x="0" y="743128"/>
                    <a:pt x="0" y="657183"/>
                  </a:cubicBezTo>
                  <a:lnTo>
                    <a:pt x="0" y="155617"/>
                  </a:lnTo>
                  <a:cubicBezTo>
                    <a:pt x="0" y="69672"/>
                    <a:pt x="69672" y="0"/>
                    <a:pt x="155617" y="0"/>
                  </a:cubicBezTo>
                  <a:close/>
                </a:path>
              </a:pathLst>
            </a:custGeom>
            <a:blipFill>
              <a:blip r:embed="rId4"/>
              <a:stretch>
                <a:fillRect l="-74960" t="-12657" r="-80133" b="-30195"/>
              </a:stretch>
            </a:blipFill>
          </p:spPr>
        </p:sp>
      </p:grpSp>
      <p:sp>
        <p:nvSpPr>
          <p:cNvPr id="13" name="Freeform 13"/>
          <p:cNvSpPr/>
          <p:nvPr/>
        </p:nvSpPr>
        <p:spPr>
          <a:xfrm>
            <a:off x="2676592" y="3164087"/>
            <a:ext cx="1931468" cy="2859698"/>
          </a:xfrm>
          <a:custGeom>
            <a:avLst/>
            <a:gdLst/>
            <a:ahLst/>
            <a:cxnLst/>
            <a:rect l="l" t="t" r="r" b="b"/>
            <a:pathLst>
              <a:path w="1931468" h="2859698">
                <a:moveTo>
                  <a:pt x="0" y="0"/>
                </a:moveTo>
                <a:lnTo>
                  <a:pt x="1931468" y="0"/>
                </a:lnTo>
                <a:lnTo>
                  <a:pt x="1931468" y="2859699"/>
                </a:lnTo>
                <a:lnTo>
                  <a:pt x="0" y="285969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212746" y="6122056"/>
            <a:ext cx="6229270" cy="12987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 Ventes, Clients, </a:t>
            </a:r>
            <a:r>
              <a:rPr lang="en-US" sz="2499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Produits</a:t>
            </a:r>
            <a:r>
              <a:rPr lang="en-US" sz="2499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 </a:t>
            </a:r>
            <a:r>
              <a:rPr lang="en-US" sz="2499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séparés</a:t>
            </a:r>
            <a:r>
              <a:rPr lang="en-US" sz="2499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</a:p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b="1" dirty="0">
                <a:solidFill>
                  <a:srgbClr val="FF313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sans lien </a:t>
            </a:r>
            <a:r>
              <a:rPr lang="en-US" sz="2499" b="1" dirty="0" err="1">
                <a:solidFill>
                  <a:srgbClr val="FF313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informatique</a:t>
            </a:r>
            <a:endParaRPr lang="en-US" sz="2499" b="1" dirty="0">
              <a:solidFill>
                <a:srgbClr val="FF3131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  <a:p>
            <a:pPr algn="ctr">
              <a:lnSpc>
                <a:spcPts val="3499"/>
              </a:lnSpc>
              <a:spcBef>
                <a:spcPct val="0"/>
              </a:spcBef>
            </a:pPr>
            <a:endParaRPr lang="en-US" sz="2499" b="1" dirty="0">
              <a:solidFill>
                <a:srgbClr val="FF3131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</p:txBody>
      </p:sp>
      <p:sp>
        <p:nvSpPr>
          <p:cNvPr id="15" name="Freeform 15"/>
          <p:cNvSpPr/>
          <p:nvPr/>
        </p:nvSpPr>
        <p:spPr>
          <a:xfrm>
            <a:off x="637078" y="7344388"/>
            <a:ext cx="6010495" cy="821578"/>
          </a:xfrm>
          <a:custGeom>
            <a:avLst/>
            <a:gdLst/>
            <a:ahLst/>
            <a:cxnLst/>
            <a:rect l="l" t="t" r="r" b="b"/>
            <a:pathLst>
              <a:path w="6010495" h="821578">
                <a:moveTo>
                  <a:pt x="0" y="0"/>
                </a:moveTo>
                <a:lnTo>
                  <a:pt x="6010495" y="0"/>
                </a:lnTo>
                <a:lnTo>
                  <a:pt x="6010495" y="821579"/>
                </a:lnTo>
                <a:lnTo>
                  <a:pt x="0" y="82157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6967965" y="5451246"/>
            <a:ext cx="10828222" cy="906864"/>
          </a:xfrm>
          <a:custGeom>
            <a:avLst/>
            <a:gdLst/>
            <a:ahLst/>
            <a:cxnLst/>
            <a:rect l="l" t="t" r="r" b="b"/>
            <a:pathLst>
              <a:path w="10828222" h="906864">
                <a:moveTo>
                  <a:pt x="0" y="0"/>
                </a:moveTo>
                <a:lnTo>
                  <a:pt x="10828222" y="0"/>
                </a:lnTo>
                <a:lnTo>
                  <a:pt x="10828222" y="906864"/>
                </a:lnTo>
                <a:lnTo>
                  <a:pt x="0" y="90686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9015005" y="5239734"/>
            <a:ext cx="1410081" cy="423024"/>
          </a:xfrm>
          <a:custGeom>
            <a:avLst/>
            <a:gdLst/>
            <a:ahLst/>
            <a:cxnLst/>
            <a:rect l="l" t="t" r="r" b="b"/>
            <a:pathLst>
              <a:path w="1410081" h="423024">
                <a:moveTo>
                  <a:pt x="0" y="0"/>
                </a:moveTo>
                <a:lnTo>
                  <a:pt x="1410081" y="0"/>
                </a:lnTo>
                <a:lnTo>
                  <a:pt x="1410081" y="423024"/>
                </a:lnTo>
                <a:lnTo>
                  <a:pt x="0" y="42302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879763" y="1822197"/>
            <a:ext cx="4697741" cy="4808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83"/>
              </a:lnSpc>
              <a:spcBef>
                <a:spcPct val="0"/>
              </a:spcBef>
            </a:pPr>
            <a:r>
              <a:rPr lang="en-US" sz="2537" b="1">
                <a:solidFill>
                  <a:srgbClr val="000000"/>
                </a:solidFill>
                <a:latin typeface="TS Qamus Bold"/>
                <a:ea typeface="TS Qamus Bold"/>
                <a:cs typeface="TS Qamus Bold"/>
                <a:sym typeface="TS Qamus Bold"/>
              </a:rPr>
              <a:t>L'Existant (Le Diagnostic)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015004" y="1916576"/>
            <a:ext cx="7909165" cy="42234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i="1" dirty="0" err="1">
                <a:solidFill>
                  <a:srgbClr val="000000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Analyse</a:t>
            </a:r>
            <a:r>
              <a:rPr lang="en-US" sz="2499" i="1" dirty="0">
                <a:solidFill>
                  <a:srgbClr val="000000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 </a:t>
            </a:r>
            <a:r>
              <a:rPr lang="en-US" sz="2499" i="1" dirty="0" err="1">
                <a:solidFill>
                  <a:srgbClr val="000000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qualité</a:t>
            </a:r>
            <a:r>
              <a:rPr lang="en-US" sz="2499" i="1" dirty="0">
                <a:solidFill>
                  <a:srgbClr val="000000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 - Les </a:t>
            </a:r>
            <a:r>
              <a:rPr lang="en-US" sz="2499" i="1" dirty="0" err="1">
                <a:solidFill>
                  <a:srgbClr val="000000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erreurs</a:t>
            </a:r>
            <a:r>
              <a:rPr lang="en-US" sz="2499" i="1" dirty="0">
                <a:solidFill>
                  <a:srgbClr val="000000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 critiques </a:t>
            </a:r>
            <a:r>
              <a:rPr lang="en-US" sz="2499" i="1" dirty="0" err="1">
                <a:solidFill>
                  <a:srgbClr val="000000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remontées</a:t>
            </a:r>
            <a:endParaRPr lang="en-US" sz="2499" i="1" dirty="0">
              <a:solidFill>
                <a:srgbClr val="000000"/>
              </a:solidFill>
              <a:latin typeface="Open Sans Italics"/>
              <a:ea typeface="Open Sans Italics"/>
              <a:cs typeface="Open Sans Italics"/>
              <a:sym typeface="Open Sans Italics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495401" y="2553850"/>
            <a:ext cx="1831744" cy="4223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i="1">
                <a:solidFill>
                  <a:srgbClr val="000000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Fichiers Excel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387586" y="2553850"/>
            <a:ext cx="7173341" cy="69955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1. Erreur de saisie bloquante : 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endParaRPr lang="en-US" sz="2499" b="1">
              <a:solidFill>
                <a:srgbClr val="000000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La colonne `</a:t>
            </a:r>
            <a:r>
              <a:rPr lang="en-US" sz="2499" b="1">
                <a:solidFill>
                  <a:srgbClr val="FF313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CUSTOMER_ID</a:t>
            </a:r>
            <a:r>
              <a:rPr lang="en-US" sz="2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` a été mal orthographiée en `</a:t>
            </a:r>
            <a:r>
              <a:rPr lang="en-US" sz="2499" b="1">
                <a:solidFill>
                  <a:srgbClr val="FF313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CUSTUMER_ID</a:t>
            </a:r>
            <a:r>
              <a:rPr lang="en-US" sz="2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` dans le fichier Ventes, empêchant les jointures Ventes/Clients.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    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endParaRPr lang="en-US" sz="2499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l">
              <a:lnSpc>
                <a:spcPts val="3499"/>
              </a:lnSpc>
              <a:spcBef>
                <a:spcPct val="0"/>
              </a:spcBef>
            </a:pPr>
            <a:endParaRPr lang="en-US" sz="2499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l">
              <a:lnSpc>
                <a:spcPts val="3499"/>
              </a:lnSpc>
              <a:spcBef>
                <a:spcPct val="0"/>
              </a:spcBef>
            </a:pPr>
            <a:endParaRPr lang="en-US" sz="2499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2. Historique ?!? : 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endParaRPr lang="en-US" sz="2499" b="1">
              <a:solidFill>
                <a:srgbClr val="000000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 b="1">
                <a:solidFill>
                  <a:srgbClr val="FF313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575 modifications silencieuses </a:t>
            </a:r>
            <a:r>
              <a:rPr lang="en-US" sz="2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de montants de produits effectuées (écrasements) sans aucune protection ni trace dans un historique.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endParaRPr lang="en-US" sz="2499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0" y="352425"/>
            <a:ext cx="16230600" cy="1343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80"/>
              </a:lnSpc>
            </a:pPr>
            <a:r>
              <a:rPr lang="en-US" sz="4400" b="1">
                <a:solidFill>
                  <a:srgbClr val="000000"/>
                </a:solidFill>
                <a:latin typeface="TS Qamus Bold"/>
                <a:ea typeface="TS Qamus Bold"/>
                <a:cs typeface="TS Qamus Bold"/>
                <a:sym typeface="TS Qamus Bold"/>
              </a:rPr>
              <a:t>La Cible (L'Architecture Data)</a:t>
            </a:r>
          </a:p>
          <a:p>
            <a:pPr marL="0" lvl="0" indent="0" algn="ctr">
              <a:lnSpc>
                <a:spcPts val="5280"/>
              </a:lnSpc>
              <a:spcBef>
                <a:spcPct val="0"/>
              </a:spcBef>
            </a:pPr>
            <a:endParaRPr lang="en-US" sz="4400" b="1">
              <a:solidFill>
                <a:srgbClr val="000000"/>
              </a:solidFill>
              <a:latin typeface="TS Qamus Bold"/>
              <a:ea typeface="TS Qamus Bold"/>
              <a:cs typeface="TS Qamus Bold"/>
              <a:sym typeface="TS Qamus Bold"/>
            </a:endParaRPr>
          </a:p>
        </p:txBody>
      </p:sp>
      <p:grpSp>
        <p:nvGrpSpPr>
          <p:cNvPr id="3" name="Group 3"/>
          <p:cNvGrpSpPr/>
          <p:nvPr/>
        </p:nvGrpSpPr>
        <p:grpSpPr>
          <a:xfrm>
            <a:off x="7861554" y="1216278"/>
            <a:ext cx="264674" cy="264674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B907C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 rot="4406544">
            <a:off x="-1139480" y="8446798"/>
            <a:ext cx="6145454" cy="5776727"/>
          </a:xfrm>
          <a:custGeom>
            <a:avLst/>
            <a:gdLst/>
            <a:ahLst/>
            <a:cxnLst/>
            <a:rect l="l" t="t" r="r" b="b"/>
            <a:pathLst>
              <a:path w="6145454" h="5776727">
                <a:moveTo>
                  <a:pt x="0" y="0"/>
                </a:moveTo>
                <a:lnTo>
                  <a:pt x="6145454" y="0"/>
                </a:lnTo>
                <a:lnTo>
                  <a:pt x="6145454" y="5776727"/>
                </a:lnTo>
                <a:lnTo>
                  <a:pt x="0" y="577672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219641" y="2429310"/>
            <a:ext cx="565310" cy="565310"/>
            <a:chOff x="0" y="0"/>
            <a:chExt cx="6350000" cy="63500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64A39F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16924170" y="204366"/>
            <a:ext cx="1144250" cy="1144250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155617" y="0"/>
                  </a:moveTo>
                  <a:lnTo>
                    <a:pt x="657183" y="0"/>
                  </a:lnTo>
                  <a:cubicBezTo>
                    <a:pt x="743128" y="0"/>
                    <a:pt x="812800" y="69672"/>
                    <a:pt x="812800" y="155617"/>
                  </a:cubicBezTo>
                  <a:lnTo>
                    <a:pt x="812800" y="657183"/>
                  </a:lnTo>
                  <a:cubicBezTo>
                    <a:pt x="812800" y="743128"/>
                    <a:pt x="743128" y="812800"/>
                    <a:pt x="657183" y="812800"/>
                  </a:cubicBezTo>
                  <a:lnTo>
                    <a:pt x="155617" y="812800"/>
                  </a:lnTo>
                  <a:cubicBezTo>
                    <a:pt x="69672" y="812800"/>
                    <a:pt x="0" y="743128"/>
                    <a:pt x="0" y="657183"/>
                  </a:cubicBezTo>
                  <a:lnTo>
                    <a:pt x="0" y="155617"/>
                  </a:lnTo>
                  <a:cubicBezTo>
                    <a:pt x="0" y="69672"/>
                    <a:pt x="69672" y="0"/>
                    <a:pt x="155617" y="0"/>
                  </a:cubicBezTo>
                  <a:close/>
                </a:path>
              </a:pathLst>
            </a:custGeom>
            <a:blipFill>
              <a:blip r:embed="rId4"/>
              <a:stretch>
                <a:fillRect l="-74960" t="-12657" r="-80133" b="-30195"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>
            <a:off x="6868709" y="2429310"/>
            <a:ext cx="565310" cy="565310"/>
            <a:chOff x="0" y="0"/>
            <a:chExt cx="6350000" cy="63500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64A39F"/>
            </a:solidFill>
          </p:spPr>
        </p:sp>
      </p:grpSp>
      <p:sp>
        <p:nvSpPr>
          <p:cNvPr id="13" name="Freeform 13"/>
          <p:cNvSpPr/>
          <p:nvPr/>
        </p:nvSpPr>
        <p:spPr>
          <a:xfrm>
            <a:off x="6666213" y="3775756"/>
            <a:ext cx="11301259" cy="4026074"/>
          </a:xfrm>
          <a:custGeom>
            <a:avLst/>
            <a:gdLst/>
            <a:ahLst/>
            <a:cxnLst/>
            <a:rect l="l" t="t" r="r" b="b"/>
            <a:pathLst>
              <a:path w="11301259" h="4026074">
                <a:moveTo>
                  <a:pt x="0" y="0"/>
                </a:moveTo>
                <a:lnTo>
                  <a:pt x="11301259" y="0"/>
                </a:lnTo>
                <a:lnTo>
                  <a:pt x="11301259" y="4026073"/>
                </a:lnTo>
                <a:lnTo>
                  <a:pt x="0" y="402607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2196501" y="4459036"/>
            <a:ext cx="2042961" cy="3024773"/>
          </a:xfrm>
          <a:custGeom>
            <a:avLst/>
            <a:gdLst/>
            <a:ahLst/>
            <a:cxnLst/>
            <a:rect l="l" t="t" r="r" b="b"/>
            <a:pathLst>
              <a:path w="2042961" h="3024773">
                <a:moveTo>
                  <a:pt x="0" y="0"/>
                </a:moveTo>
                <a:lnTo>
                  <a:pt x="2042961" y="0"/>
                </a:lnTo>
                <a:lnTo>
                  <a:pt x="2042961" y="3024773"/>
                </a:lnTo>
                <a:lnTo>
                  <a:pt x="0" y="302477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16005561" y="7894188"/>
            <a:ext cx="1829424" cy="323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 i="1">
                <a:solidFill>
                  <a:srgbClr val="000000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Via excalidraw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519743" y="2476982"/>
            <a:ext cx="8369046" cy="8248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i="1">
                <a:solidFill>
                  <a:srgbClr val="000000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Aprés : </a:t>
            </a:r>
          </a:p>
          <a:p>
            <a:pPr algn="l">
              <a:lnSpc>
                <a:spcPts val="3219"/>
              </a:lnSpc>
              <a:spcBef>
                <a:spcPct val="0"/>
              </a:spcBef>
            </a:pPr>
            <a:r>
              <a:rPr lang="en-US" sz="2299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Architecture Globale / Flux Pipeline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70675" y="2476982"/>
            <a:ext cx="5795537" cy="16605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i="1">
                <a:solidFill>
                  <a:srgbClr val="000000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Avant : </a:t>
            </a:r>
          </a:p>
          <a:p>
            <a:pPr algn="l">
              <a:lnSpc>
                <a:spcPts val="3219"/>
              </a:lnSpc>
            </a:pPr>
            <a:r>
              <a:rPr lang="en-US" sz="2299" b="1" i="1">
                <a:solidFill>
                  <a:srgbClr val="000000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Données excel en vrac, erreurs de frappe, pas d'historique</a:t>
            </a:r>
          </a:p>
          <a:p>
            <a:pPr algn="ctr">
              <a:lnSpc>
                <a:spcPts val="3499"/>
              </a:lnSpc>
              <a:spcBef>
                <a:spcPct val="0"/>
              </a:spcBef>
            </a:pPr>
            <a:endParaRPr lang="en-US" sz="2299" b="1" i="1">
              <a:solidFill>
                <a:srgbClr val="000000"/>
              </a:solidFill>
              <a:latin typeface="Open Sans Bold Italics"/>
              <a:ea typeface="Open Sans Bold Italics"/>
              <a:cs typeface="Open Sans Bold Italics"/>
              <a:sym typeface="Open Sans Bold Italics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1382542" y="7982420"/>
            <a:ext cx="4511477" cy="4223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Système manuel, faillible, isolé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011663" y="1001181"/>
            <a:ext cx="264674" cy="264674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B6E50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 rot="1195273">
            <a:off x="11479713" y="6529632"/>
            <a:ext cx="8888398" cy="7514736"/>
          </a:xfrm>
          <a:custGeom>
            <a:avLst/>
            <a:gdLst/>
            <a:ahLst/>
            <a:cxnLst/>
            <a:rect l="l" t="t" r="r" b="b"/>
            <a:pathLst>
              <a:path w="8888398" h="7514736">
                <a:moveTo>
                  <a:pt x="0" y="0"/>
                </a:moveTo>
                <a:lnTo>
                  <a:pt x="8888398" y="0"/>
                </a:lnTo>
                <a:lnTo>
                  <a:pt x="8888398" y="7514736"/>
                </a:lnTo>
                <a:lnTo>
                  <a:pt x="0" y="751473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8470115">
            <a:off x="17253124" y="7683832"/>
            <a:ext cx="4495479" cy="3587985"/>
          </a:xfrm>
          <a:custGeom>
            <a:avLst/>
            <a:gdLst/>
            <a:ahLst/>
            <a:cxnLst/>
            <a:rect l="l" t="t" r="r" b="b"/>
            <a:pathLst>
              <a:path w="4495479" h="3587985">
                <a:moveTo>
                  <a:pt x="0" y="0"/>
                </a:moveTo>
                <a:lnTo>
                  <a:pt x="4495479" y="0"/>
                </a:lnTo>
                <a:lnTo>
                  <a:pt x="4495479" y="3587985"/>
                </a:lnTo>
                <a:lnTo>
                  <a:pt x="0" y="358798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563065" y="1133518"/>
            <a:ext cx="525999" cy="525999"/>
            <a:chOff x="0" y="0"/>
            <a:chExt cx="6350000" cy="63500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4F4F8C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16924170" y="204366"/>
            <a:ext cx="1144250" cy="1144250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155617" y="0"/>
                  </a:moveTo>
                  <a:lnTo>
                    <a:pt x="657183" y="0"/>
                  </a:lnTo>
                  <a:cubicBezTo>
                    <a:pt x="743128" y="0"/>
                    <a:pt x="812800" y="69672"/>
                    <a:pt x="812800" y="155617"/>
                  </a:cubicBezTo>
                  <a:lnTo>
                    <a:pt x="812800" y="657183"/>
                  </a:lnTo>
                  <a:cubicBezTo>
                    <a:pt x="812800" y="743128"/>
                    <a:pt x="743128" y="812800"/>
                    <a:pt x="657183" y="812800"/>
                  </a:cubicBezTo>
                  <a:lnTo>
                    <a:pt x="155617" y="812800"/>
                  </a:lnTo>
                  <a:cubicBezTo>
                    <a:pt x="69672" y="812800"/>
                    <a:pt x="0" y="743128"/>
                    <a:pt x="0" y="657183"/>
                  </a:cubicBezTo>
                  <a:lnTo>
                    <a:pt x="0" y="155617"/>
                  </a:lnTo>
                  <a:cubicBezTo>
                    <a:pt x="0" y="69672"/>
                    <a:pt x="69672" y="0"/>
                    <a:pt x="155617" y="0"/>
                  </a:cubicBezTo>
                  <a:close/>
                </a:path>
              </a:pathLst>
            </a:custGeom>
            <a:blipFill>
              <a:blip r:embed="rId5"/>
              <a:stretch>
                <a:fillRect l="-74960" t="-12657" r="-80133" b="-30195"/>
              </a:stretch>
            </a:blipFill>
          </p:spPr>
        </p:sp>
      </p:grpSp>
      <p:sp>
        <p:nvSpPr>
          <p:cNvPr id="11" name="Freeform 11"/>
          <p:cNvSpPr/>
          <p:nvPr/>
        </p:nvSpPr>
        <p:spPr>
          <a:xfrm>
            <a:off x="1222845" y="1742421"/>
            <a:ext cx="16195524" cy="7773852"/>
          </a:xfrm>
          <a:custGeom>
            <a:avLst/>
            <a:gdLst/>
            <a:ahLst/>
            <a:cxnLst/>
            <a:rect l="l" t="t" r="r" b="b"/>
            <a:pathLst>
              <a:path w="16195524" h="7773852">
                <a:moveTo>
                  <a:pt x="0" y="0"/>
                </a:moveTo>
                <a:lnTo>
                  <a:pt x="16195524" y="0"/>
                </a:lnTo>
                <a:lnTo>
                  <a:pt x="16195524" y="7773852"/>
                </a:lnTo>
                <a:lnTo>
                  <a:pt x="0" y="777385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311898" y="185316"/>
            <a:ext cx="16612272" cy="7048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400"/>
              </a:lnSpc>
              <a:spcBef>
                <a:spcPct val="0"/>
              </a:spcBef>
            </a:pPr>
            <a:r>
              <a:rPr lang="en-US" sz="4500" b="1">
                <a:solidFill>
                  <a:srgbClr val="000000"/>
                </a:solidFill>
                <a:latin typeface="TS Qamus Bold"/>
                <a:ea typeface="TS Qamus Bold"/>
                <a:cs typeface="TS Qamus Bold"/>
                <a:sym typeface="TS Qamus Bold"/>
              </a:rPr>
              <a:t>Architecture et Modélisation en Étoile mise en place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5525450" y="9811548"/>
            <a:ext cx="1829424" cy="323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 i="1">
                <a:solidFill>
                  <a:srgbClr val="000000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Via excalidraw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89064" y="1133795"/>
            <a:ext cx="6897235" cy="8605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i="1">
                <a:solidFill>
                  <a:srgbClr val="000000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Aprés : </a:t>
            </a:r>
            <a:r>
              <a:rPr lang="en-US" sz="2499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Modèle en Étoile / Diagramme ERD</a:t>
            </a:r>
          </a:p>
          <a:p>
            <a:pPr algn="ctr">
              <a:lnSpc>
                <a:spcPts val="3499"/>
              </a:lnSpc>
              <a:spcBef>
                <a:spcPct val="0"/>
              </a:spcBef>
            </a:pPr>
            <a:endParaRPr lang="en-US" sz="2499" b="1">
              <a:solidFill>
                <a:srgbClr val="000000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028700" y="9478173"/>
            <a:ext cx="11729972" cy="6565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 i="1">
                <a:solidFill>
                  <a:srgbClr val="000000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Optimisation : 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Moins de jointures (vs Snowflake), requêtes plus rapides (vs 3NF), structure compréhensible par PowerBI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011663" y="1001181"/>
            <a:ext cx="264674" cy="264674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B6E50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 rot="1195273">
            <a:off x="11479713" y="6529632"/>
            <a:ext cx="8888398" cy="7514736"/>
          </a:xfrm>
          <a:custGeom>
            <a:avLst/>
            <a:gdLst/>
            <a:ahLst/>
            <a:cxnLst/>
            <a:rect l="l" t="t" r="r" b="b"/>
            <a:pathLst>
              <a:path w="8888398" h="7514736">
                <a:moveTo>
                  <a:pt x="0" y="0"/>
                </a:moveTo>
                <a:lnTo>
                  <a:pt x="8888398" y="0"/>
                </a:lnTo>
                <a:lnTo>
                  <a:pt x="8888398" y="7514736"/>
                </a:lnTo>
                <a:lnTo>
                  <a:pt x="0" y="751473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8470115">
            <a:off x="17253124" y="7683832"/>
            <a:ext cx="4495479" cy="3587985"/>
          </a:xfrm>
          <a:custGeom>
            <a:avLst/>
            <a:gdLst/>
            <a:ahLst/>
            <a:cxnLst/>
            <a:rect l="l" t="t" r="r" b="b"/>
            <a:pathLst>
              <a:path w="4495479" h="3587985">
                <a:moveTo>
                  <a:pt x="0" y="0"/>
                </a:moveTo>
                <a:lnTo>
                  <a:pt x="4495479" y="0"/>
                </a:lnTo>
                <a:lnTo>
                  <a:pt x="4495479" y="3587985"/>
                </a:lnTo>
                <a:lnTo>
                  <a:pt x="0" y="358798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563065" y="1731353"/>
            <a:ext cx="525999" cy="525999"/>
            <a:chOff x="0" y="0"/>
            <a:chExt cx="6350000" cy="63500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4F4F8C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16924170" y="204366"/>
            <a:ext cx="1144250" cy="1144250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155617" y="0"/>
                  </a:moveTo>
                  <a:lnTo>
                    <a:pt x="657183" y="0"/>
                  </a:lnTo>
                  <a:cubicBezTo>
                    <a:pt x="743128" y="0"/>
                    <a:pt x="812800" y="69672"/>
                    <a:pt x="812800" y="155617"/>
                  </a:cubicBezTo>
                  <a:lnTo>
                    <a:pt x="812800" y="657183"/>
                  </a:lnTo>
                  <a:cubicBezTo>
                    <a:pt x="812800" y="743128"/>
                    <a:pt x="743128" y="812800"/>
                    <a:pt x="657183" y="812800"/>
                  </a:cubicBezTo>
                  <a:lnTo>
                    <a:pt x="155617" y="812800"/>
                  </a:lnTo>
                  <a:cubicBezTo>
                    <a:pt x="69672" y="812800"/>
                    <a:pt x="0" y="743128"/>
                    <a:pt x="0" y="657183"/>
                  </a:cubicBezTo>
                  <a:lnTo>
                    <a:pt x="0" y="155617"/>
                  </a:lnTo>
                  <a:cubicBezTo>
                    <a:pt x="0" y="69672"/>
                    <a:pt x="69672" y="0"/>
                    <a:pt x="155617" y="0"/>
                  </a:cubicBezTo>
                  <a:close/>
                </a:path>
              </a:pathLst>
            </a:custGeom>
            <a:blipFill>
              <a:blip r:embed="rId5"/>
              <a:stretch>
                <a:fillRect l="-74960" t="-12657" r="-80133" b="-30195"/>
              </a:stretch>
            </a:blipFill>
          </p:spPr>
        </p:sp>
      </p:grpSp>
      <p:sp>
        <p:nvSpPr>
          <p:cNvPr id="11" name="Freeform 11"/>
          <p:cNvSpPr/>
          <p:nvPr/>
        </p:nvSpPr>
        <p:spPr>
          <a:xfrm>
            <a:off x="826065" y="2498785"/>
            <a:ext cx="8161848" cy="7493421"/>
          </a:xfrm>
          <a:custGeom>
            <a:avLst/>
            <a:gdLst/>
            <a:ahLst/>
            <a:cxnLst/>
            <a:rect l="l" t="t" r="r" b="b"/>
            <a:pathLst>
              <a:path w="8161848" h="7493421">
                <a:moveTo>
                  <a:pt x="0" y="0"/>
                </a:moveTo>
                <a:lnTo>
                  <a:pt x="8161848" y="0"/>
                </a:lnTo>
                <a:lnTo>
                  <a:pt x="8161848" y="7493420"/>
                </a:lnTo>
                <a:lnTo>
                  <a:pt x="0" y="749342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0273174" y="3544595"/>
            <a:ext cx="6986126" cy="5401799"/>
          </a:xfrm>
          <a:custGeom>
            <a:avLst/>
            <a:gdLst/>
            <a:ahLst/>
            <a:cxnLst/>
            <a:rect l="l" t="t" r="r" b="b"/>
            <a:pathLst>
              <a:path w="6986126" h="5401799">
                <a:moveTo>
                  <a:pt x="0" y="0"/>
                </a:moveTo>
                <a:lnTo>
                  <a:pt x="6986126" y="0"/>
                </a:lnTo>
                <a:lnTo>
                  <a:pt x="6986126" y="5401800"/>
                </a:lnTo>
                <a:lnTo>
                  <a:pt x="0" y="540180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311898" y="185316"/>
            <a:ext cx="16612272" cy="13905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00"/>
              </a:lnSpc>
            </a:pPr>
            <a:r>
              <a:rPr lang="en-US" sz="4500" b="1">
                <a:solidFill>
                  <a:srgbClr val="000000"/>
                </a:solidFill>
                <a:latin typeface="TS Qamus Bold"/>
                <a:ea typeface="TS Qamus Bold"/>
                <a:cs typeface="TS Qamus Bold"/>
                <a:sym typeface="TS Qamus Bold"/>
              </a:rPr>
              <a:t>Le Prototype — Le Code SQL du Modèle en Étoile</a:t>
            </a:r>
          </a:p>
          <a:p>
            <a:pPr marL="0" lvl="0" indent="0" algn="ctr">
              <a:lnSpc>
                <a:spcPts val="5400"/>
              </a:lnSpc>
              <a:spcBef>
                <a:spcPct val="0"/>
              </a:spcBef>
            </a:pPr>
            <a:endParaRPr lang="en-US" sz="4500" b="1">
              <a:solidFill>
                <a:srgbClr val="000000"/>
              </a:solidFill>
              <a:latin typeface="TS Qamus Bold"/>
              <a:ea typeface="TS Qamus Bold"/>
              <a:cs typeface="TS Qamus Bold"/>
              <a:sym typeface="TS Qamus Bold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0668401" y="1683728"/>
            <a:ext cx="5956598" cy="4223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La Table de Faits (le centre de l'étoile)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426513" y="1759369"/>
            <a:ext cx="4314858" cy="4223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Les 4 Tables de Dimension :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9939406" y="1655712"/>
            <a:ext cx="525999" cy="525999"/>
            <a:chOff x="0" y="0"/>
            <a:chExt cx="6350000" cy="63500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4F4F8C"/>
            </a:solidFill>
          </p:spPr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011663" y="1001181"/>
            <a:ext cx="264674" cy="264674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B6E50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 rot="1195273">
            <a:off x="11479713" y="6529632"/>
            <a:ext cx="8888398" cy="7514736"/>
          </a:xfrm>
          <a:custGeom>
            <a:avLst/>
            <a:gdLst/>
            <a:ahLst/>
            <a:cxnLst/>
            <a:rect l="l" t="t" r="r" b="b"/>
            <a:pathLst>
              <a:path w="8888398" h="7514736">
                <a:moveTo>
                  <a:pt x="0" y="0"/>
                </a:moveTo>
                <a:lnTo>
                  <a:pt x="8888398" y="0"/>
                </a:lnTo>
                <a:lnTo>
                  <a:pt x="8888398" y="7514736"/>
                </a:lnTo>
                <a:lnTo>
                  <a:pt x="0" y="751473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8470115">
            <a:off x="17253124" y="7683832"/>
            <a:ext cx="4495479" cy="3587985"/>
          </a:xfrm>
          <a:custGeom>
            <a:avLst/>
            <a:gdLst/>
            <a:ahLst/>
            <a:cxnLst/>
            <a:rect l="l" t="t" r="r" b="b"/>
            <a:pathLst>
              <a:path w="4495479" h="3587985">
                <a:moveTo>
                  <a:pt x="0" y="0"/>
                </a:moveTo>
                <a:lnTo>
                  <a:pt x="4495479" y="0"/>
                </a:lnTo>
                <a:lnTo>
                  <a:pt x="4495479" y="3587985"/>
                </a:lnTo>
                <a:lnTo>
                  <a:pt x="0" y="358798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1663645" y="1587886"/>
            <a:ext cx="525999" cy="525999"/>
            <a:chOff x="0" y="0"/>
            <a:chExt cx="6350000" cy="63500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4F4F8C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16924170" y="204366"/>
            <a:ext cx="1144250" cy="1144250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155617" y="0"/>
                  </a:moveTo>
                  <a:lnTo>
                    <a:pt x="657183" y="0"/>
                  </a:lnTo>
                  <a:cubicBezTo>
                    <a:pt x="743128" y="0"/>
                    <a:pt x="812800" y="69672"/>
                    <a:pt x="812800" y="155617"/>
                  </a:cubicBezTo>
                  <a:lnTo>
                    <a:pt x="812800" y="657183"/>
                  </a:lnTo>
                  <a:cubicBezTo>
                    <a:pt x="812800" y="743128"/>
                    <a:pt x="743128" y="812800"/>
                    <a:pt x="657183" y="812800"/>
                  </a:cubicBezTo>
                  <a:lnTo>
                    <a:pt x="155617" y="812800"/>
                  </a:lnTo>
                  <a:cubicBezTo>
                    <a:pt x="69672" y="812800"/>
                    <a:pt x="0" y="743128"/>
                    <a:pt x="0" y="657183"/>
                  </a:cubicBezTo>
                  <a:lnTo>
                    <a:pt x="0" y="155617"/>
                  </a:lnTo>
                  <a:cubicBezTo>
                    <a:pt x="0" y="69672"/>
                    <a:pt x="69672" y="0"/>
                    <a:pt x="155617" y="0"/>
                  </a:cubicBezTo>
                  <a:close/>
                </a:path>
              </a:pathLst>
            </a:custGeom>
            <a:blipFill>
              <a:blip r:embed="rId5"/>
              <a:stretch>
                <a:fillRect l="-74960" t="-12657" r="-80133" b="-30195"/>
              </a:stretch>
            </a:blipFill>
          </p:spPr>
        </p:sp>
      </p:grpSp>
      <p:sp>
        <p:nvSpPr>
          <p:cNvPr id="12" name="TextBox 12"/>
          <p:cNvSpPr txBox="1"/>
          <p:nvPr/>
        </p:nvSpPr>
        <p:spPr>
          <a:xfrm>
            <a:off x="311898" y="185316"/>
            <a:ext cx="16612272" cy="13905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00"/>
              </a:lnSpc>
            </a:pPr>
            <a:r>
              <a:rPr lang="en-US" sz="4500" b="1">
                <a:solidFill>
                  <a:srgbClr val="000000"/>
                </a:solidFill>
                <a:latin typeface="TS Qamus Bold"/>
                <a:ea typeface="TS Qamus Bold"/>
                <a:cs typeface="TS Qamus Bold"/>
                <a:sym typeface="TS Qamus Bold"/>
              </a:rPr>
              <a:t>La Documentation Technique (Dictionnaire)</a:t>
            </a:r>
          </a:p>
          <a:p>
            <a:pPr marL="0" lvl="0" indent="0" algn="ctr">
              <a:lnSpc>
                <a:spcPts val="5400"/>
              </a:lnSpc>
              <a:spcBef>
                <a:spcPct val="0"/>
              </a:spcBef>
            </a:pPr>
            <a:endParaRPr lang="en-US" sz="4500" b="1">
              <a:solidFill>
                <a:srgbClr val="000000"/>
              </a:solidFill>
              <a:latin typeface="TS Qamus Bold"/>
              <a:ea typeface="TS Qamus Bold"/>
              <a:cs typeface="TS Qamus Bold"/>
              <a:sym typeface="TS Qamus Bold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4726316" y="9811548"/>
            <a:ext cx="2628557" cy="323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 i="1">
                <a:solidFill>
                  <a:srgbClr val="000000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Complet en Annexes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328856" y="1659794"/>
            <a:ext cx="6129344" cy="86055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Un aperçu du </a:t>
            </a:r>
            <a:r>
              <a:rPr lang="en-US" sz="2499" b="1" dirty="0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dictionnaire</a:t>
            </a:r>
            <a:r>
              <a:rPr lang="en-US" sz="2499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de données</a:t>
            </a:r>
          </a:p>
          <a:p>
            <a:pPr algn="ctr">
              <a:lnSpc>
                <a:spcPts val="3499"/>
              </a:lnSpc>
              <a:spcBef>
                <a:spcPct val="0"/>
              </a:spcBef>
            </a:pPr>
            <a:endParaRPr lang="en-US" sz="2499" b="1" dirty="0">
              <a:solidFill>
                <a:srgbClr val="000000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2406357" y="8105775"/>
            <a:ext cx="11393621" cy="7428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Sanctuarisation des métadonnées : 6 tables documentées, types SQL définis, </a:t>
            </a:r>
          </a:p>
          <a:p>
            <a:pPr algn="l">
              <a:lnSpc>
                <a:spcPts val="29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contraintes d'intégrité (PK/FK) explicitées.</a:t>
            </a:r>
          </a:p>
        </p:txBody>
      </p:sp>
      <p:graphicFrame>
        <p:nvGraphicFramePr>
          <p:cNvPr id="16" name="Tableau 15">
            <a:extLst>
              <a:ext uri="{FF2B5EF4-FFF2-40B4-BE49-F238E27FC236}">
                <a16:creationId xmlns:a16="http://schemas.microsoft.com/office/drawing/2014/main" id="{270CC4D3-BB89-4AB9-F089-3DC9BCA0EC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1729368"/>
              </p:ext>
            </p:extLst>
          </p:nvPr>
        </p:nvGraphicFramePr>
        <p:xfrm>
          <a:off x="2819400" y="2933700"/>
          <a:ext cx="10980580" cy="3555142"/>
        </p:xfrm>
        <a:graphic>
          <a:graphicData uri="http://schemas.openxmlformats.org/drawingml/2006/table">
            <a:tbl>
              <a:tblPr/>
              <a:tblGrid>
                <a:gridCol w="2745145">
                  <a:extLst>
                    <a:ext uri="{9D8B030D-6E8A-4147-A177-3AD203B41FA5}">
                      <a16:colId xmlns:a16="http://schemas.microsoft.com/office/drawing/2014/main" val="3666975682"/>
                    </a:ext>
                  </a:extLst>
                </a:gridCol>
                <a:gridCol w="1445855">
                  <a:extLst>
                    <a:ext uri="{9D8B030D-6E8A-4147-A177-3AD203B41FA5}">
                      <a16:colId xmlns:a16="http://schemas.microsoft.com/office/drawing/2014/main" val="3895453112"/>
                    </a:ext>
                  </a:extLst>
                </a:gridCol>
                <a:gridCol w="4044435">
                  <a:extLst>
                    <a:ext uri="{9D8B030D-6E8A-4147-A177-3AD203B41FA5}">
                      <a16:colId xmlns:a16="http://schemas.microsoft.com/office/drawing/2014/main" val="2793766007"/>
                    </a:ext>
                  </a:extLst>
                </a:gridCol>
                <a:gridCol w="2745145">
                  <a:extLst>
                    <a:ext uri="{9D8B030D-6E8A-4147-A177-3AD203B41FA5}">
                      <a16:colId xmlns:a16="http://schemas.microsoft.com/office/drawing/2014/main" val="281342270"/>
                    </a:ext>
                  </a:extLst>
                </a:gridCol>
              </a:tblGrid>
              <a:tr h="4038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600" b="1" dirty="0">
                          <a:effectLst/>
                        </a:rPr>
                        <a:t>Colonne</a:t>
                      </a:r>
                    </a:p>
                  </a:txBody>
                  <a:tcPr marL="82478" marR="82478" marT="41239" marB="41239" anchor="ctr">
                    <a:lnL w="12700" cap="flat" cmpd="sng" algn="ctr">
                      <a:solidFill>
                        <a:srgbClr val="E1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2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600" b="1">
                          <a:effectLst/>
                        </a:rPr>
                        <a:t>Type SQL</a:t>
                      </a:r>
                    </a:p>
                  </a:txBody>
                  <a:tcPr marL="82478" marR="82478" marT="41239" marB="41239" anchor="ctr">
                    <a:lnL w="9525" cap="flat" cmpd="sng" algn="ctr">
                      <a:solidFill>
                        <a:srgbClr val="E1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2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600" b="1">
                          <a:effectLst/>
                        </a:rPr>
                        <a:t>Description</a:t>
                      </a:r>
                    </a:p>
                  </a:txBody>
                  <a:tcPr marL="82478" marR="82478" marT="41239" marB="41239" anchor="ctr">
                    <a:lnL w="9525" cap="flat" cmpd="sng" algn="ctr">
                      <a:solidFill>
                        <a:srgbClr val="E1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2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600" b="1">
                          <a:effectLst/>
                        </a:rPr>
                        <a:t>Contraintes</a:t>
                      </a:r>
                    </a:p>
                  </a:txBody>
                  <a:tcPr marL="82478" marR="82478" marT="41239" marB="41239" anchor="ctr">
                    <a:lnL w="9525" cap="flat" cmpd="sng" algn="ctr">
                      <a:solidFill>
                        <a:srgbClr val="E1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2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8144121"/>
                  </a:ext>
                </a:extLst>
              </a:tr>
              <a:tr h="5218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600">
                          <a:effectLst/>
                        </a:rPr>
                        <a:t>ID_BDD</a:t>
                      </a:r>
                    </a:p>
                  </a:txBody>
                  <a:tcPr marL="82478" marR="82478" marT="41239" marB="41239" anchor="ctr">
                    <a:lnL w="12700" cap="flat" cmpd="sng" algn="ctr">
                      <a:solidFill>
                        <a:srgbClr val="E1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600">
                          <a:effectLst/>
                        </a:rPr>
                        <a:t>TEXT</a:t>
                      </a:r>
                    </a:p>
                  </a:txBody>
                  <a:tcPr marL="82478" marR="82478" marT="41239" marB="41239" anchor="ctr">
                    <a:lnL w="9525" cap="flat" cmpd="sng" algn="ctr">
                      <a:solidFill>
                        <a:srgbClr val="E1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600">
                          <a:effectLst/>
                        </a:rPr>
                        <a:t>Identifiant unique de la ligne de vente</a:t>
                      </a:r>
                    </a:p>
                  </a:txBody>
                  <a:tcPr marL="82478" marR="82478" marT="41239" marB="41239" anchor="ctr">
                    <a:lnL w="9525" cap="flat" cmpd="sng" algn="ctr">
                      <a:solidFill>
                        <a:srgbClr val="E1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600">
                          <a:effectLst/>
                        </a:rPr>
                        <a:t>PK — Non null</a:t>
                      </a:r>
                    </a:p>
                  </a:txBody>
                  <a:tcPr marL="82478" marR="82478" marT="41239" marB="41239" anchor="ctr">
                    <a:lnL w="9525" cap="flat" cmpd="sng" algn="ctr">
                      <a:solidFill>
                        <a:srgbClr val="E1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3394048"/>
                  </a:ext>
                </a:extLst>
              </a:tr>
              <a:tr h="5873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600">
                          <a:effectLst/>
                        </a:rPr>
                        <a:t>CUSTOMER_ID</a:t>
                      </a:r>
                    </a:p>
                  </a:txBody>
                  <a:tcPr marL="82478" marR="82478" marT="41239" marB="41239" anchor="ctr">
                    <a:lnL w="12700" cap="flat" cmpd="sng" algn="ctr">
                      <a:solidFill>
                        <a:srgbClr val="E1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600">
                          <a:effectLst/>
                        </a:rPr>
                        <a:t>TEXT</a:t>
                      </a:r>
                    </a:p>
                  </a:txBody>
                  <a:tcPr marL="82478" marR="82478" marT="41239" marB="41239" anchor="ctr">
                    <a:lnL w="9525" cap="flat" cmpd="sng" algn="ctr">
                      <a:solidFill>
                        <a:srgbClr val="E1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>
                        <a:buNone/>
                      </a:pPr>
                      <a:r>
                        <a:rPr lang="fr-FR" sz="1600" b="0" i="0">
                          <a:solidFill>
                            <a:srgbClr val="000000"/>
                          </a:solidFill>
                          <a:effectLst/>
                        </a:rPr>
                        <a:t>Lien vers le client (</a:t>
                      </a:r>
                      <a:r>
                        <a:rPr lang="fr-FR" sz="1600" b="1" i="0">
                          <a:solidFill>
                            <a:srgbClr val="000000"/>
                          </a:solidFill>
                          <a:effectLst/>
                        </a:rPr>
                        <a:t>faute source</a:t>
                      </a:r>
                      <a:r>
                        <a:rPr lang="fr-FR" sz="1600" b="0" i="0">
                          <a:solidFill>
                            <a:srgbClr val="000000"/>
                          </a:solidFill>
                          <a:effectLst/>
                        </a:rPr>
                        <a:t> : CUSTUMER_ID)</a:t>
                      </a:r>
                      <a:endParaRPr lang="fr-FR" sz="1600">
                        <a:effectLst/>
                      </a:endParaRPr>
                    </a:p>
                  </a:txBody>
                  <a:tcPr marL="82478" marR="82478" marT="41239" marB="41239" anchor="ctr">
                    <a:lnL w="9525" cap="flat" cmpd="sng" algn="ctr">
                      <a:solidFill>
                        <a:srgbClr val="E1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600">
                          <a:effectLst/>
                        </a:rPr>
                        <a:t>FK → Dim_Clients</a:t>
                      </a:r>
                    </a:p>
                  </a:txBody>
                  <a:tcPr marL="82478" marR="82478" marT="41239" marB="41239" anchor="ctr">
                    <a:lnL w="9525" cap="flat" cmpd="sng" algn="ctr">
                      <a:solidFill>
                        <a:srgbClr val="E1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5800442"/>
                  </a:ext>
                </a:extLst>
              </a:tr>
              <a:tr h="5218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600">
                          <a:effectLst/>
                        </a:rPr>
                        <a:t>id_employe</a:t>
                      </a:r>
                    </a:p>
                  </a:txBody>
                  <a:tcPr marL="82478" marR="82478" marT="41239" marB="41239" anchor="ctr">
                    <a:lnL w="12700" cap="flat" cmpd="sng" algn="ctr">
                      <a:solidFill>
                        <a:srgbClr val="E1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600">
                          <a:effectLst/>
                        </a:rPr>
                        <a:t>TEXT</a:t>
                      </a:r>
                    </a:p>
                  </a:txBody>
                  <a:tcPr marL="82478" marR="82478" marT="41239" marB="41239" anchor="ctr">
                    <a:lnL w="9525" cap="flat" cmpd="sng" algn="ctr">
                      <a:solidFill>
                        <a:srgbClr val="E1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600">
                          <a:effectLst/>
                        </a:rPr>
                        <a:t>Lien vers l'employé ayant encaissé</a:t>
                      </a:r>
                    </a:p>
                  </a:txBody>
                  <a:tcPr marL="82478" marR="82478" marT="41239" marB="41239" anchor="ctr">
                    <a:lnL w="9525" cap="flat" cmpd="sng" algn="ctr">
                      <a:solidFill>
                        <a:srgbClr val="E1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600">
                          <a:effectLst/>
                        </a:rPr>
                        <a:t>FK → Dim_Employes</a:t>
                      </a:r>
                    </a:p>
                  </a:txBody>
                  <a:tcPr marL="82478" marR="82478" marT="41239" marB="41239" anchor="ctr">
                    <a:lnL w="9525" cap="flat" cmpd="sng" algn="ctr">
                      <a:solidFill>
                        <a:srgbClr val="E1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2056831"/>
                  </a:ext>
                </a:extLst>
              </a:tr>
              <a:tr h="4111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600">
                          <a:effectLst/>
                        </a:rPr>
                        <a:t>EAN</a:t>
                      </a:r>
                    </a:p>
                  </a:txBody>
                  <a:tcPr marL="82478" marR="82478" marT="41239" marB="41239" anchor="ctr">
                    <a:lnL w="12700" cap="flat" cmpd="sng" algn="ctr">
                      <a:solidFill>
                        <a:srgbClr val="E1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600">
                          <a:effectLst/>
                        </a:rPr>
                        <a:t>INTEGER</a:t>
                      </a:r>
                    </a:p>
                  </a:txBody>
                  <a:tcPr marL="82478" marR="82478" marT="41239" marB="41239" anchor="ctr">
                    <a:lnL w="9525" cap="flat" cmpd="sng" algn="ctr">
                      <a:solidFill>
                        <a:srgbClr val="E1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600">
                          <a:effectLst/>
                        </a:rPr>
                        <a:t>Code barre EAN du produit</a:t>
                      </a:r>
                    </a:p>
                  </a:txBody>
                  <a:tcPr marL="82478" marR="82478" marT="41239" marB="41239" anchor="ctr">
                    <a:lnL w="9525" cap="flat" cmpd="sng" algn="ctr">
                      <a:solidFill>
                        <a:srgbClr val="E1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600" dirty="0">
                          <a:effectLst/>
                        </a:rPr>
                        <a:t>FK → </a:t>
                      </a:r>
                      <a:r>
                        <a:rPr lang="fr-FR" sz="1600" dirty="0" err="1">
                          <a:effectLst/>
                        </a:rPr>
                        <a:t>Dim_Produits</a:t>
                      </a:r>
                      <a:endParaRPr lang="fr-FR" sz="1600" dirty="0">
                        <a:effectLst/>
                      </a:endParaRPr>
                    </a:p>
                  </a:txBody>
                  <a:tcPr marL="82478" marR="82478" marT="41239" marB="41239" anchor="ctr">
                    <a:lnL w="9525" cap="flat" cmpd="sng" algn="ctr">
                      <a:solidFill>
                        <a:srgbClr val="E1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6486259"/>
                  </a:ext>
                </a:extLst>
              </a:tr>
              <a:tr h="5873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600">
                          <a:effectLst/>
                        </a:rPr>
                        <a:t>date_achat_excel</a:t>
                      </a:r>
                    </a:p>
                  </a:txBody>
                  <a:tcPr marL="82478" marR="82478" marT="41239" marB="41239" anchor="ctr">
                    <a:lnL w="12700" cap="flat" cmpd="sng" algn="ctr">
                      <a:solidFill>
                        <a:srgbClr val="E1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600">
                          <a:effectLst/>
                        </a:rPr>
                        <a:t>INTEGER</a:t>
                      </a:r>
                    </a:p>
                  </a:txBody>
                  <a:tcPr marL="82478" marR="82478" marT="41239" marB="41239" anchor="ctr">
                    <a:lnL w="9525" cap="flat" cmpd="sng" algn="ctr">
                      <a:solidFill>
                        <a:srgbClr val="E1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600">
                          <a:effectLst/>
                        </a:rPr>
                        <a:t>Date en format sériel Excel (45518 = 14/08/2024)</a:t>
                      </a:r>
                    </a:p>
                  </a:txBody>
                  <a:tcPr marL="82478" marR="82478" marT="41239" marB="41239" anchor="ctr">
                    <a:lnL w="9525" cap="flat" cmpd="sng" algn="ctr">
                      <a:solidFill>
                        <a:srgbClr val="E1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600">
                          <a:effectLst/>
                        </a:rPr>
                        <a:t>FK → Dim_Calendrier</a:t>
                      </a:r>
                    </a:p>
                  </a:txBody>
                  <a:tcPr marL="82478" marR="82478" marT="41239" marB="41239" anchor="ctr">
                    <a:lnL w="9525" cap="flat" cmpd="sng" algn="ctr">
                      <a:solidFill>
                        <a:srgbClr val="E1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5057761"/>
                  </a:ext>
                </a:extLst>
              </a:tr>
              <a:tr h="5218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600">
                          <a:effectLst/>
                        </a:rPr>
                        <a:t>ID_ticket</a:t>
                      </a:r>
                    </a:p>
                  </a:txBody>
                  <a:tcPr marL="82478" marR="82478" marT="41239" marB="41239" anchor="ctr">
                    <a:lnL w="12700" cap="flat" cmpd="sng" algn="ctr">
                      <a:solidFill>
                        <a:srgbClr val="E1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600">
                          <a:effectLst/>
                        </a:rPr>
                        <a:t>TEXT</a:t>
                      </a:r>
                    </a:p>
                  </a:txBody>
                  <a:tcPr marL="82478" marR="82478" marT="41239" marB="41239" anchor="ctr">
                    <a:lnL w="9525" cap="flat" cmpd="sng" algn="ctr">
                      <a:solidFill>
                        <a:srgbClr val="E1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600" dirty="0">
                          <a:effectLst/>
                        </a:rPr>
                        <a:t>Regroupe les lignes d'un même ticket</a:t>
                      </a:r>
                    </a:p>
                  </a:txBody>
                  <a:tcPr marL="82478" marR="82478" marT="41239" marB="41239" anchor="ctr">
                    <a:lnL w="9525" cap="flat" cmpd="sng" algn="ctr">
                      <a:solidFill>
                        <a:srgbClr val="E1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600" dirty="0">
                          <a:effectLst/>
                        </a:rPr>
                        <a:t>Peut être </a:t>
                      </a:r>
                      <a:r>
                        <a:rPr lang="fr-FR" sz="1600" dirty="0" err="1">
                          <a:effectLst/>
                        </a:rPr>
                        <a:t>null</a:t>
                      </a:r>
                      <a:endParaRPr lang="fr-FR" sz="1600" dirty="0">
                        <a:effectLst/>
                      </a:endParaRPr>
                    </a:p>
                  </a:txBody>
                  <a:tcPr marL="82478" marR="82478" marT="41239" marB="41239" anchor="ctr">
                    <a:lnL w="9525" cap="flat" cmpd="sng" algn="ctr">
                      <a:solidFill>
                        <a:srgbClr val="E1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548748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011663" y="1001181"/>
            <a:ext cx="264674" cy="264674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B6E50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 rot="1195273">
            <a:off x="11479713" y="6529632"/>
            <a:ext cx="8888398" cy="7514736"/>
          </a:xfrm>
          <a:custGeom>
            <a:avLst/>
            <a:gdLst/>
            <a:ahLst/>
            <a:cxnLst/>
            <a:rect l="l" t="t" r="r" b="b"/>
            <a:pathLst>
              <a:path w="8888398" h="7514736">
                <a:moveTo>
                  <a:pt x="0" y="0"/>
                </a:moveTo>
                <a:lnTo>
                  <a:pt x="8888398" y="0"/>
                </a:lnTo>
                <a:lnTo>
                  <a:pt x="8888398" y="7514736"/>
                </a:lnTo>
                <a:lnTo>
                  <a:pt x="0" y="751473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8470115">
            <a:off x="17253124" y="7683832"/>
            <a:ext cx="4495479" cy="3587985"/>
          </a:xfrm>
          <a:custGeom>
            <a:avLst/>
            <a:gdLst/>
            <a:ahLst/>
            <a:cxnLst/>
            <a:rect l="l" t="t" r="r" b="b"/>
            <a:pathLst>
              <a:path w="4495479" h="3587985">
                <a:moveTo>
                  <a:pt x="0" y="0"/>
                </a:moveTo>
                <a:lnTo>
                  <a:pt x="4495479" y="0"/>
                </a:lnTo>
                <a:lnTo>
                  <a:pt x="4495479" y="3587985"/>
                </a:lnTo>
                <a:lnTo>
                  <a:pt x="0" y="358798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599100" y="1265855"/>
            <a:ext cx="525999" cy="525999"/>
            <a:chOff x="0" y="0"/>
            <a:chExt cx="6350000" cy="63500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4F4F8C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16924170" y="204366"/>
            <a:ext cx="1144250" cy="1144250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155617" y="0"/>
                  </a:moveTo>
                  <a:lnTo>
                    <a:pt x="657183" y="0"/>
                  </a:lnTo>
                  <a:cubicBezTo>
                    <a:pt x="743128" y="0"/>
                    <a:pt x="812800" y="69672"/>
                    <a:pt x="812800" y="155617"/>
                  </a:cubicBezTo>
                  <a:lnTo>
                    <a:pt x="812800" y="657183"/>
                  </a:lnTo>
                  <a:cubicBezTo>
                    <a:pt x="812800" y="743128"/>
                    <a:pt x="743128" y="812800"/>
                    <a:pt x="657183" y="812800"/>
                  </a:cubicBezTo>
                  <a:lnTo>
                    <a:pt x="155617" y="812800"/>
                  </a:lnTo>
                  <a:cubicBezTo>
                    <a:pt x="69672" y="812800"/>
                    <a:pt x="0" y="743128"/>
                    <a:pt x="0" y="657183"/>
                  </a:cubicBezTo>
                  <a:lnTo>
                    <a:pt x="0" y="155617"/>
                  </a:lnTo>
                  <a:cubicBezTo>
                    <a:pt x="0" y="69672"/>
                    <a:pt x="69672" y="0"/>
                    <a:pt x="155617" y="0"/>
                  </a:cubicBezTo>
                  <a:close/>
                </a:path>
              </a:pathLst>
            </a:custGeom>
            <a:blipFill>
              <a:blip r:embed="rId5"/>
              <a:stretch>
                <a:fillRect l="-74960" t="-12657" r="-80133" b="-30195"/>
              </a:stretch>
            </a:blipFill>
          </p:spPr>
        </p:sp>
      </p:grpSp>
      <p:sp>
        <p:nvSpPr>
          <p:cNvPr id="11" name="TextBox 11"/>
          <p:cNvSpPr txBox="1"/>
          <p:nvPr/>
        </p:nvSpPr>
        <p:spPr>
          <a:xfrm>
            <a:off x="311898" y="185316"/>
            <a:ext cx="16612272" cy="13905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00"/>
              </a:lnSpc>
            </a:pPr>
            <a:r>
              <a:rPr lang="en-US" sz="4500" b="1">
                <a:solidFill>
                  <a:srgbClr val="000000"/>
                </a:solidFill>
                <a:latin typeface="TS Qamus Bold"/>
                <a:ea typeface="TS Qamus Bold"/>
                <a:cs typeface="TS Qamus Bold"/>
                <a:sym typeface="TS Qamus Bold"/>
              </a:rPr>
              <a:t>La Validation Métier &amp; Qualité</a:t>
            </a:r>
          </a:p>
          <a:p>
            <a:pPr marL="0" lvl="0" indent="0" algn="ctr">
              <a:lnSpc>
                <a:spcPts val="5400"/>
              </a:lnSpc>
              <a:spcBef>
                <a:spcPct val="0"/>
              </a:spcBef>
            </a:pPr>
            <a:endParaRPr lang="en-US" sz="4500" b="1">
              <a:solidFill>
                <a:srgbClr val="000000"/>
              </a:solidFill>
              <a:latin typeface="TS Qamus Bold"/>
              <a:ea typeface="TS Qamus Bold"/>
              <a:cs typeface="TS Qamus Bold"/>
              <a:sym typeface="TS Qamus Bold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125099" y="1266132"/>
            <a:ext cx="5051891" cy="8605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La Validation Métier &amp; Qualité</a:t>
            </a:r>
          </a:p>
          <a:p>
            <a:pPr algn="ctr">
              <a:lnSpc>
                <a:spcPts val="3499"/>
              </a:lnSpc>
              <a:spcBef>
                <a:spcPct val="0"/>
              </a:spcBef>
            </a:pPr>
            <a:endParaRPr lang="en-US" sz="2499" b="1">
              <a:solidFill>
                <a:srgbClr val="000000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2059346" y="1891706"/>
            <a:ext cx="14864824" cy="12987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Le Top 10 des Clients. (Copiez le tableau TSV que nous avions généré avec les 10 lignes avec les colonnes </a:t>
            </a:r>
            <a:r>
              <a:rPr lang="en-US" sz="2499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Rang, CUSTOMER_ID, Nb Achats, CA Généré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endParaRPr lang="en-US" sz="2499" b="1">
              <a:solidFill>
                <a:srgbClr val="000000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</p:txBody>
      </p:sp>
      <p:graphicFrame>
        <p:nvGraphicFramePr>
          <p:cNvPr id="14" name="Object 14"/>
          <p:cNvGraphicFramePr/>
          <p:nvPr/>
        </p:nvGraphicFramePr>
        <p:xfrm>
          <a:off x="815938" y="3077055"/>
          <a:ext cx="7543800" cy="6915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6" imgW="9042400" imgH="8420100" progId="Excel.Sheet.12">
                  <p:embed/>
                </p:oleObj>
              </mc:Choice>
              <mc:Fallback>
                <p:oleObj name="Worksheet" r:id="rId6" imgW="9042400" imgH="84201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815938" y="3077055"/>
                        <a:ext cx="7543800" cy="69151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Freeform 15"/>
          <p:cNvSpPr/>
          <p:nvPr/>
        </p:nvSpPr>
        <p:spPr>
          <a:xfrm>
            <a:off x="7793113" y="4888150"/>
            <a:ext cx="9862611" cy="3124068"/>
          </a:xfrm>
          <a:custGeom>
            <a:avLst/>
            <a:gdLst/>
            <a:ahLst/>
            <a:cxnLst/>
            <a:rect l="l" t="t" r="r" b="b"/>
            <a:pathLst>
              <a:path w="9862611" h="3124068">
                <a:moveTo>
                  <a:pt x="0" y="0"/>
                </a:moveTo>
                <a:lnTo>
                  <a:pt x="9862612" y="0"/>
                </a:lnTo>
                <a:lnTo>
                  <a:pt x="9862612" y="3124069"/>
                </a:lnTo>
                <a:lnTo>
                  <a:pt x="0" y="312406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8576288" y="4128199"/>
            <a:ext cx="1851257" cy="417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55"/>
              </a:lnSpc>
              <a:spcBef>
                <a:spcPct val="0"/>
              </a:spcBef>
            </a:pPr>
            <a:r>
              <a:rPr lang="en-US" sz="2303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Requête SQL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7793113" y="4107094"/>
            <a:ext cx="525999" cy="525999"/>
            <a:chOff x="0" y="0"/>
            <a:chExt cx="6350000" cy="63500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3131"/>
            </a:solidFill>
          </p:spPr>
        </p:sp>
      </p:grpSp>
      <p:sp>
        <p:nvSpPr>
          <p:cNvPr id="19" name="TextBox 19"/>
          <p:cNvSpPr txBox="1"/>
          <p:nvPr/>
        </p:nvSpPr>
        <p:spPr>
          <a:xfrm>
            <a:off x="9005825" y="8326544"/>
            <a:ext cx="7185918" cy="8605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Génération réussie du Top 10 Clients, preuve de 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la correction du bug </a:t>
            </a:r>
            <a:r>
              <a:rPr lang="en-US" sz="2499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CUSTOMER_ID</a:t>
            </a:r>
            <a:r>
              <a:rPr lang="en-US" sz="2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011663" y="1183276"/>
            <a:ext cx="264674" cy="264674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B6E50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 rot="1195273">
            <a:off x="11479713" y="6529632"/>
            <a:ext cx="8888398" cy="7514736"/>
          </a:xfrm>
          <a:custGeom>
            <a:avLst/>
            <a:gdLst/>
            <a:ahLst/>
            <a:cxnLst/>
            <a:rect l="l" t="t" r="r" b="b"/>
            <a:pathLst>
              <a:path w="8888398" h="7514736">
                <a:moveTo>
                  <a:pt x="0" y="0"/>
                </a:moveTo>
                <a:lnTo>
                  <a:pt x="8888398" y="0"/>
                </a:lnTo>
                <a:lnTo>
                  <a:pt x="8888398" y="7514736"/>
                </a:lnTo>
                <a:lnTo>
                  <a:pt x="0" y="751473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8470115">
            <a:off x="17253124" y="7683832"/>
            <a:ext cx="4495479" cy="3587985"/>
          </a:xfrm>
          <a:custGeom>
            <a:avLst/>
            <a:gdLst/>
            <a:ahLst/>
            <a:cxnLst/>
            <a:rect l="l" t="t" r="r" b="b"/>
            <a:pathLst>
              <a:path w="4495479" h="3587985">
                <a:moveTo>
                  <a:pt x="0" y="0"/>
                </a:moveTo>
                <a:lnTo>
                  <a:pt x="4495479" y="0"/>
                </a:lnTo>
                <a:lnTo>
                  <a:pt x="4495479" y="3587985"/>
                </a:lnTo>
                <a:lnTo>
                  <a:pt x="0" y="358798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311898" y="2095578"/>
            <a:ext cx="525999" cy="525999"/>
            <a:chOff x="0" y="0"/>
            <a:chExt cx="6350000" cy="63500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4F4F8C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16924170" y="204366"/>
            <a:ext cx="1144250" cy="1144250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155617" y="0"/>
                  </a:moveTo>
                  <a:lnTo>
                    <a:pt x="657183" y="0"/>
                  </a:lnTo>
                  <a:cubicBezTo>
                    <a:pt x="743128" y="0"/>
                    <a:pt x="812800" y="69672"/>
                    <a:pt x="812800" y="155617"/>
                  </a:cubicBezTo>
                  <a:lnTo>
                    <a:pt x="812800" y="657183"/>
                  </a:lnTo>
                  <a:cubicBezTo>
                    <a:pt x="812800" y="743128"/>
                    <a:pt x="743128" y="812800"/>
                    <a:pt x="657183" y="812800"/>
                  </a:cubicBezTo>
                  <a:lnTo>
                    <a:pt x="155617" y="812800"/>
                  </a:lnTo>
                  <a:cubicBezTo>
                    <a:pt x="69672" y="812800"/>
                    <a:pt x="0" y="743128"/>
                    <a:pt x="0" y="657183"/>
                  </a:cubicBezTo>
                  <a:lnTo>
                    <a:pt x="0" y="155617"/>
                  </a:lnTo>
                  <a:cubicBezTo>
                    <a:pt x="0" y="69672"/>
                    <a:pt x="69672" y="0"/>
                    <a:pt x="155617" y="0"/>
                  </a:cubicBezTo>
                  <a:close/>
                </a:path>
              </a:pathLst>
            </a:custGeom>
            <a:blipFill>
              <a:blip r:embed="rId5"/>
              <a:stretch>
                <a:fillRect l="-74960" t="-12657" r="-80133" b="-30195"/>
              </a:stretch>
            </a:blipFill>
          </p:spPr>
        </p:sp>
      </p:grpSp>
      <p:graphicFrame>
        <p:nvGraphicFramePr>
          <p:cNvPr id="11" name="Object 11"/>
          <p:cNvGraphicFramePr/>
          <p:nvPr/>
        </p:nvGraphicFramePr>
        <p:xfrm>
          <a:off x="2148689" y="6285651"/>
          <a:ext cx="11301412" cy="37604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6" imgW="13563600" imgH="6019800" progId="Excel.Sheet.12">
                  <p:embed/>
                </p:oleObj>
              </mc:Choice>
              <mc:Fallback>
                <p:oleObj name="Worksheet" r:id="rId6" imgW="13563600" imgH="60198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148689" y="6285651"/>
                        <a:ext cx="11301412" cy="376047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2" name="Group 12"/>
          <p:cNvGrpSpPr/>
          <p:nvPr/>
        </p:nvGrpSpPr>
        <p:grpSpPr>
          <a:xfrm>
            <a:off x="311898" y="5611050"/>
            <a:ext cx="525999" cy="525999"/>
            <a:chOff x="0" y="0"/>
            <a:chExt cx="6350000" cy="63500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E2A9F1"/>
            </a:solidFill>
          </p:spPr>
        </p:sp>
      </p:grpSp>
      <p:sp>
        <p:nvSpPr>
          <p:cNvPr id="14" name="Freeform 14"/>
          <p:cNvSpPr/>
          <p:nvPr/>
        </p:nvSpPr>
        <p:spPr>
          <a:xfrm>
            <a:off x="3746024" y="2183358"/>
            <a:ext cx="9857516" cy="1500057"/>
          </a:xfrm>
          <a:custGeom>
            <a:avLst/>
            <a:gdLst/>
            <a:ahLst/>
            <a:cxnLst/>
            <a:rect l="l" t="t" r="r" b="b"/>
            <a:pathLst>
              <a:path w="9857516" h="1500057">
                <a:moveTo>
                  <a:pt x="0" y="0"/>
                </a:moveTo>
                <a:lnTo>
                  <a:pt x="9857516" y="0"/>
                </a:lnTo>
                <a:lnTo>
                  <a:pt x="9857516" y="1500057"/>
                </a:lnTo>
                <a:lnTo>
                  <a:pt x="0" y="150005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10821008" y="3874214"/>
            <a:ext cx="6266471" cy="1912658"/>
          </a:xfrm>
          <a:custGeom>
            <a:avLst/>
            <a:gdLst/>
            <a:ahLst/>
            <a:cxnLst/>
            <a:rect l="l" t="t" r="r" b="b"/>
            <a:pathLst>
              <a:path w="6266471" h="1912658">
                <a:moveTo>
                  <a:pt x="0" y="0"/>
                </a:moveTo>
                <a:lnTo>
                  <a:pt x="6266471" y="0"/>
                </a:lnTo>
                <a:lnTo>
                  <a:pt x="6266471" y="1912658"/>
                </a:lnTo>
                <a:lnTo>
                  <a:pt x="0" y="191265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1768932" y="414557"/>
            <a:ext cx="15014809" cy="7048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400"/>
              </a:lnSpc>
              <a:spcBef>
                <a:spcPct val="0"/>
              </a:spcBef>
            </a:pPr>
            <a:r>
              <a:rPr lang="en-US" sz="4500" b="1">
                <a:solidFill>
                  <a:srgbClr val="000000"/>
                </a:solidFill>
                <a:latin typeface="TS Qamus Bold"/>
                <a:ea typeface="TS Qamus Bold"/>
                <a:cs typeface="TS Qamus Bold"/>
                <a:sym typeface="TS Qamus Bold"/>
              </a:rPr>
              <a:t>Le Chiffre d'Affaires du 14 août :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889222" y="6542523"/>
            <a:ext cx="8920747" cy="3116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000000"/>
                </a:solidFill>
                <a:latin typeface="TS Qamus"/>
                <a:ea typeface="TS Qamus"/>
                <a:cs typeface="TS Qamus"/>
                <a:sym typeface="TS Qamus"/>
              </a:rPr>
              <a:t>💡Dans les requêtes SQL ci-dessus, vous verrez la valeur `45518`. </a:t>
            </a:r>
          </a:p>
          <a:p>
            <a:pPr algn="l">
              <a:lnSpc>
                <a:spcPts val="3079"/>
              </a:lnSpc>
              <a:spcBef>
                <a:spcPct val="0"/>
              </a:spcBef>
            </a:pPr>
            <a:endParaRPr lang="en-US" sz="2199">
              <a:solidFill>
                <a:srgbClr val="000000"/>
              </a:solidFill>
              <a:latin typeface="TS Qamus"/>
              <a:ea typeface="TS Qamus"/>
              <a:cs typeface="TS Qamus"/>
              <a:sym typeface="TS Qamus"/>
            </a:endParaRPr>
          </a:p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000000"/>
                </a:solidFill>
                <a:latin typeface="TS Qamus"/>
                <a:ea typeface="TS Qamus"/>
                <a:cs typeface="TS Qamus"/>
                <a:sym typeface="TS Qamus"/>
              </a:rPr>
              <a:t>Il s'agit du format entier d'Excel (le nombre de jours écoulés depuis le 1er janvier 1900).</a:t>
            </a:r>
          </a:p>
          <a:p>
            <a:pPr algn="l">
              <a:lnSpc>
                <a:spcPts val="3079"/>
              </a:lnSpc>
              <a:spcBef>
                <a:spcPct val="0"/>
              </a:spcBef>
            </a:pPr>
            <a:endParaRPr lang="en-US" sz="2199">
              <a:solidFill>
                <a:srgbClr val="000000"/>
              </a:solidFill>
              <a:latin typeface="TS Qamus"/>
              <a:ea typeface="TS Qamus"/>
              <a:cs typeface="TS Qamus"/>
              <a:sym typeface="TS Qamus"/>
            </a:endParaRPr>
          </a:p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000000"/>
                </a:solidFill>
                <a:latin typeface="TS Qamus"/>
                <a:ea typeface="TS Qamus"/>
                <a:cs typeface="TS Qamus"/>
                <a:sym typeface="TS Qamus"/>
              </a:rPr>
              <a:t> 45518 correspond exactement au 14 août 2024.</a:t>
            </a:r>
          </a:p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000000"/>
                </a:solidFill>
                <a:latin typeface="TS Qamus"/>
                <a:ea typeface="TS Qamus"/>
                <a:cs typeface="TS Qamus"/>
                <a:sym typeface="TS Qamus"/>
              </a:rPr>
              <a:t>(Le 15 août est donc 45519)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54928" y="2116683"/>
            <a:ext cx="2297872" cy="4171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455"/>
              </a:lnSpc>
              <a:spcBef>
                <a:spcPct val="0"/>
              </a:spcBef>
            </a:pPr>
            <a:r>
              <a:rPr lang="en-US" sz="2303" b="1" dirty="0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Requête</a:t>
            </a:r>
            <a:r>
              <a:rPr lang="en-US" sz="2303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SQL :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76112" y="5632155"/>
            <a:ext cx="1767087" cy="4171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455"/>
              </a:lnSpc>
              <a:spcBef>
                <a:spcPct val="0"/>
              </a:spcBef>
            </a:pPr>
            <a:r>
              <a:rPr lang="en-US" sz="2303" b="1" dirty="0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Résultat</a:t>
            </a:r>
            <a:r>
              <a:rPr lang="en-US" sz="2303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011663" y="1183276"/>
            <a:ext cx="264674" cy="264674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B6E50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 rot="1195273">
            <a:off x="11479713" y="6529632"/>
            <a:ext cx="8888398" cy="7514736"/>
          </a:xfrm>
          <a:custGeom>
            <a:avLst/>
            <a:gdLst/>
            <a:ahLst/>
            <a:cxnLst/>
            <a:rect l="l" t="t" r="r" b="b"/>
            <a:pathLst>
              <a:path w="8888398" h="7514736">
                <a:moveTo>
                  <a:pt x="0" y="0"/>
                </a:moveTo>
                <a:lnTo>
                  <a:pt x="8888398" y="0"/>
                </a:lnTo>
                <a:lnTo>
                  <a:pt x="8888398" y="7514736"/>
                </a:lnTo>
                <a:lnTo>
                  <a:pt x="0" y="751473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8470115">
            <a:off x="17253124" y="7683832"/>
            <a:ext cx="4495479" cy="3587985"/>
          </a:xfrm>
          <a:custGeom>
            <a:avLst/>
            <a:gdLst/>
            <a:ahLst/>
            <a:cxnLst/>
            <a:rect l="l" t="t" r="r" b="b"/>
            <a:pathLst>
              <a:path w="4495479" h="3587985">
                <a:moveTo>
                  <a:pt x="0" y="0"/>
                </a:moveTo>
                <a:lnTo>
                  <a:pt x="4495479" y="0"/>
                </a:lnTo>
                <a:lnTo>
                  <a:pt x="4495479" y="3587985"/>
                </a:lnTo>
                <a:lnTo>
                  <a:pt x="0" y="358798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765700" y="1449644"/>
            <a:ext cx="525999" cy="525999"/>
            <a:chOff x="0" y="0"/>
            <a:chExt cx="6350000" cy="63500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4F4F8C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16924170" y="204366"/>
            <a:ext cx="1144250" cy="1144250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155617" y="0"/>
                  </a:moveTo>
                  <a:lnTo>
                    <a:pt x="657183" y="0"/>
                  </a:lnTo>
                  <a:cubicBezTo>
                    <a:pt x="743128" y="0"/>
                    <a:pt x="812800" y="69672"/>
                    <a:pt x="812800" y="155617"/>
                  </a:cubicBezTo>
                  <a:lnTo>
                    <a:pt x="812800" y="657183"/>
                  </a:lnTo>
                  <a:cubicBezTo>
                    <a:pt x="812800" y="743128"/>
                    <a:pt x="743128" y="812800"/>
                    <a:pt x="657183" y="812800"/>
                  </a:cubicBezTo>
                  <a:lnTo>
                    <a:pt x="155617" y="812800"/>
                  </a:lnTo>
                  <a:cubicBezTo>
                    <a:pt x="69672" y="812800"/>
                    <a:pt x="0" y="743128"/>
                    <a:pt x="0" y="657183"/>
                  </a:cubicBezTo>
                  <a:lnTo>
                    <a:pt x="0" y="155617"/>
                  </a:lnTo>
                  <a:cubicBezTo>
                    <a:pt x="0" y="69672"/>
                    <a:pt x="69672" y="0"/>
                    <a:pt x="155617" y="0"/>
                  </a:cubicBezTo>
                  <a:close/>
                </a:path>
              </a:pathLst>
            </a:custGeom>
            <a:blipFill>
              <a:blip r:embed="rId5"/>
              <a:stretch>
                <a:fillRect l="-74960" t="-12657" r="-80133" b="-30195"/>
              </a:stretch>
            </a:blipFill>
          </p:spPr>
        </p:sp>
      </p:grpSp>
      <p:sp>
        <p:nvSpPr>
          <p:cNvPr id="11" name="Freeform 11"/>
          <p:cNvSpPr/>
          <p:nvPr/>
        </p:nvSpPr>
        <p:spPr>
          <a:xfrm>
            <a:off x="9011663" y="5658901"/>
            <a:ext cx="7269005" cy="4201839"/>
          </a:xfrm>
          <a:custGeom>
            <a:avLst/>
            <a:gdLst/>
            <a:ahLst/>
            <a:cxnLst/>
            <a:rect l="l" t="t" r="r" b="b"/>
            <a:pathLst>
              <a:path w="7269005" h="4201839">
                <a:moveTo>
                  <a:pt x="0" y="0"/>
                </a:moveTo>
                <a:lnTo>
                  <a:pt x="7269005" y="0"/>
                </a:lnTo>
                <a:lnTo>
                  <a:pt x="7269005" y="4201839"/>
                </a:lnTo>
                <a:lnTo>
                  <a:pt x="0" y="420183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9011663" y="2447100"/>
            <a:ext cx="6619905" cy="2479168"/>
          </a:xfrm>
          <a:custGeom>
            <a:avLst/>
            <a:gdLst/>
            <a:ahLst/>
            <a:cxnLst/>
            <a:rect l="l" t="t" r="r" b="b"/>
            <a:pathLst>
              <a:path w="6619905" h="2479168">
                <a:moveTo>
                  <a:pt x="0" y="0"/>
                </a:moveTo>
                <a:lnTo>
                  <a:pt x="6619905" y="0"/>
                </a:lnTo>
                <a:lnTo>
                  <a:pt x="6619905" y="2479168"/>
                </a:lnTo>
                <a:lnTo>
                  <a:pt x="0" y="247916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1504258" y="323883"/>
            <a:ext cx="15014809" cy="13905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00"/>
              </a:lnSpc>
            </a:pPr>
            <a:r>
              <a:rPr lang="en-US" sz="4500" b="1">
                <a:solidFill>
                  <a:srgbClr val="000000"/>
                </a:solidFill>
                <a:latin typeface="TS Qamus Bold"/>
                <a:ea typeface="TS Qamus Bold"/>
                <a:cs typeface="TS Qamus Bold"/>
                <a:sym typeface="TS Qamus Bold"/>
              </a:rPr>
              <a:t>Fondations de l'Audit - Volume &amp; Périmètre</a:t>
            </a:r>
          </a:p>
          <a:p>
            <a:pPr marL="0" lvl="0" indent="0" algn="ctr">
              <a:lnSpc>
                <a:spcPts val="5400"/>
              </a:lnSpc>
              <a:spcBef>
                <a:spcPct val="0"/>
              </a:spcBef>
            </a:pPr>
            <a:endParaRPr lang="en-US" sz="4500" b="1">
              <a:solidFill>
                <a:srgbClr val="000000"/>
              </a:solidFill>
              <a:latin typeface="TS Qamus Bold"/>
              <a:ea typeface="TS Qamus Bold"/>
              <a:cs typeface="TS Qamus Bold"/>
              <a:sym typeface="TS Qamus Bold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504258" y="1449644"/>
            <a:ext cx="3851798" cy="417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55"/>
              </a:lnSpc>
              <a:spcBef>
                <a:spcPct val="0"/>
              </a:spcBef>
            </a:pPr>
            <a:r>
              <a:rPr lang="en-US" sz="2303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Lignes de logs analysées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233630" y="2641100"/>
            <a:ext cx="3528715" cy="417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55"/>
              </a:lnSpc>
              <a:spcBef>
                <a:spcPct val="0"/>
              </a:spcBef>
            </a:pPr>
            <a:r>
              <a:rPr lang="en-US" sz="2303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1. Volume total des Logs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344328" y="5173528"/>
            <a:ext cx="6667335" cy="417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55"/>
              </a:lnSpc>
              <a:spcBef>
                <a:spcPct val="0"/>
              </a:spcBef>
            </a:pPr>
            <a:r>
              <a:rPr lang="en-US" sz="2303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2. Périmètre de l'Audit (Les 4 tables scannées)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756582" y="3620009"/>
            <a:ext cx="5842827" cy="417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55"/>
              </a:lnSpc>
              <a:spcBef>
                <a:spcPct val="0"/>
              </a:spcBef>
            </a:pPr>
            <a:r>
              <a:rPr lang="en-US" sz="230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207 489 (Opérations techniques analysées)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3311876" y="6514568"/>
            <a:ext cx="4732238" cy="26081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55"/>
              </a:lnSpc>
              <a:spcBef>
                <a:spcPct val="0"/>
              </a:spcBef>
            </a:pPr>
            <a:r>
              <a:rPr lang="en-US" sz="230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Un scan des 4 table de la donnée :</a:t>
            </a:r>
          </a:p>
          <a:p>
            <a:pPr algn="r">
              <a:lnSpc>
                <a:spcPts val="3455"/>
              </a:lnSpc>
              <a:spcBef>
                <a:spcPct val="0"/>
              </a:spcBef>
            </a:pPr>
            <a:endParaRPr lang="en-US" sz="2303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r">
              <a:lnSpc>
                <a:spcPts val="3455"/>
              </a:lnSpc>
              <a:spcBef>
                <a:spcPct val="0"/>
              </a:spcBef>
            </a:pPr>
            <a:r>
              <a:rPr lang="en-US" sz="230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Transactions (Ventes)</a:t>
            </a:r>
          </a:p>
          <a:p>
            <a:pPr algn="r">
              <a:lnSpc>
                <a:spcPts val="3455"/>
              </a:lnSpc>
              <a:spcBef>
                <a:spcPct val="0"/>
              </a:spcBef>
            </a:pPr>
            <a:r>
              <a:rPr lang="en-US" sz="230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Catalogue (Produits)</a:t>
            </a:r>
          </a:p>
          <a:p>
            <a:pPr algn="r">
              <a:lnSpc>
                <a:spcPts val="3455"/>
              </a:lnSpc>
              <a:spcBef>
                <a:spcPct val="0"/>
              </a:spcBef>
            </a:pPr>
            <a:r>
              <a:rPr lang="en-US" sz="230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Identités (Employés)</a:t>
            </a:r>
          </a:p>
          <a:p>
            <a:pPr algn="r">
              <a:lnSpc>
                <a:spcPts val="3455"/>
              </a:lnSpc>
              <a:spcBef>
                <a:spcPct val="0"/>
              </a:spcBef>
            </a:pPr>
            <a:r>
              <a:rPr lang="en-US" sz="230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Registre (Clients)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011663" y="1074416"/>
            <a:ext cx="264674" cy="264674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B6E50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 rot="1195273">
            <a:off x="11479713" y="6529632"/>
            <a:ext cx="8888398" cy="7514736"/>
          </a:xfrm>
          <a:custGeom>
            <a:avLst/>
            <a:gdLst/>
            <a:ahLst/>
            <a:cxnLst/>
            <a:rect l="l" t="t" r="r" b="b"/>
            <a:pathLst>
              <a:path w="8888398" h="7514736">
                <a:moveTo>
                  <a:pt x="0" y="0"/>
                </a:moveTo>
                <a:lnTo>
                  <a:pt x="8888398" y="0"/>
                </a:lnTo>
                <a:lnTo>
                  <a:pt x="8888398" y="7514736"/>
                </a:lnTo>
                <a:lnTo>
                  <a:pt x="0" y="751473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8470115">
            <a:off x="17253124" y="7683832"/>
            <a:ext cx="4495479" cy="3587985"/>
          </a:xfrm>
          <a:custGeom>
            <a:avLst/>
            <a:gdLst/>
            <a:ahLst/>
            <a:cxnLst/>
            <a:rect l="l" t="t" r="r" b="b"/>
            <a:pathLst>
              <a:path w="4495479" h="3587985">
                <a:moveTo>
                  <a:pt x="0" y="0"/>
                </a:moveTo>
                <a:lnTo>
                  <a:pt x="4495479" y="0"/>
                </a:lnTo>
                <a:lnTo>
                  <a:pt x="4495479" y="3587985"/>
                </a:lnTo>
                <a:lnTo>
                  <a:pt x="0" y="358798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765700" y="1449644"/>
            <a:ext cx="525999" cy="525999"/>
            <a:chOff x="0" y="0"/>
            <a:chExt cx="6350000" cy="63500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4F4F8C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16924170" y="204366"/>
            <a:ext cx="1144250" cy="1144250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155617" y="0"/>
                  </a:moveTo>
                  <a:lnTo>
                    <a:pt x="657183" y="0"/>
                  </a:lnTo>
                  <a:cubicBezTo>
                    <a:pt x="743128" y="0"/>
                    <a:pt x="812800" y="69672"/>
                    <a:pt x="812800" y="155617"/>
                  </a:cubicBezTo>
                  <a:lnTo>
                    <a:pt x="812800" y="657183"/>
                  </a:lnTo>
                  <a:cubicBezTo>
                    <a:pt x="812800" y="743128"/>
                    <a:pt x="743128" y="812800"/>
                    <a:pt x="657183" y="812800"/>
                  </a:cubicBezTo>
                  <a:lnTo>
                    <a:pt x="155617" y="812800"/>
                  </a:lnTo>
                  <a:cubicBezTo>
                    <a:pt x="69672" y="812800"/>
                    <a:pt x="0" y="743128"/>
                    <a:pt x="0" y="657183"/>
                  </a:cubicBezTo>
                  <a:lnTo>
                    <a:pt x="0" y="155617"/>
                  </a:lnTo>
                  <a:cubicBezTo>
                    <a:pt x="0" y="69672"/>
                    <a:pt x="69672" y="0"/>
                    <a:pt x="155617" y="0"/>
                  </a:cubicBezTo>
                  <a:close/>
                </a:path>
              </a:pathLst>
            </a:custGeom>
            <a:blipFill>
              <a:blip r:embed="rId5"/>
              <a:stretch>
                <a:fillRect l="-74960" t="-12657" r="-80133" b="-30195"/>
              </a:stretch>
            </a:blipFill>
          </p:spPr>
        </p:sp>
      </p:grpSp>
      <p:sp>
        <p:nvSpPr>
          <p:cNvPr id="11" name="Freeform 11"/>
          <p:cNvSpPr/>
          <p:nvPr/>
        </p:nvSpPr>
        <p:spPr>
          <a:xfrm>
            <a:off x="4239696" y="4072585"/>
            <a:ext cx="9808609" cy="2141830"/>
          </a:xfrm>
          <a:custGeom>
            <a:avLst/>
            <a:gdLst/>
            <a:ahLst/>
            <a:cxnLst/>
            <a:rect l="l" t="t" r="r" b="b"/>
            <a:pathLst>
              <a:path w="9808609" h="2141830">
                <a:moveTo>
                  <a:pt x="0" y="0"/>
                </a:moveTo>
                <a:lnTo>
                  <a:pt x="9808608" y="0"/>
                </a:lnTo>
                <a:lnTo>
                  <a:pt x="9808608" y="2141830"/>
                </a:lnTo>
                <a:lnTo>
                  <a:pt x="0" y="214183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1291700" y="323883"/>
            <a:ext cx="15014809" cy="7048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400"/>
              </a:lnSpc>
              <a:spcBef>
                <a:spcPct val="0"/>
              </a:spcBef>
            </a:pPr>
            <a:r>
              <a:rPr lang="en-US" sz="4500" b="1">
                <a:solidFill>
                  <a:srgbClr val="000000"/>
                </a:solidFill>
                <a:latin typeface="TS Qamus Bold"/>
                <a:ea typeface="TS Qamus Bold"/>
                <a:cs typeface="TS Qamus Bold"/>
                <a:sym typeface="TS Qamus Bold"/>
              </a:rPr>
              <a:t>Diagnostic de Sécurité - Zéro Manipulation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504258" y="1472572"/>
            <a:ext cx="9512412" cy="417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55"/>
              </a:lnSpc>
              <a:spcBef>
                <a:spcPct val="0"/>
              </a:spcBef>
            </a:pPr>
            <a:r>
              <a:rPr lang="en-US" sz="2303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Diagnostic de Sécurité - Zéro Manipulation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405205" y="2506730"/>
            <a:ext cx="4452276" cy="417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55"/>
              </a:lnSpc>
              <a:spcBef>
                <a:spcPct val="0"/>
              </a:spcBef>
            </a:pPr>
            <a:r>
              <a:rPr lang="en-US" sz="230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Intégrité de la table </a:t>
            </a:r>
            <a:r>
              <a:rPr lang="en-US" sz="2303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Fact_Ventes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869609" y="9191625"/>
            <a:ext cx="12284108" cy="417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55"/>
              </a:lnSpc>
              <a:spcBef>
                <a:spcPct val="0"/>
              </a:spcBef>
            </a:pPr>
            <a:r>
              <a:rPr lang="en-US" sz="230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Le Chiffre d'Affaires n'est pas une fraude mais passe dans le domaine de l’écart technique.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504258" y="6566840"/>
            <a:ext cx="14419654" cy="12935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55"/>
              </a:lnSpc>
              <a:spcBef>
                <a:spcPct val="0"/>
              </a:spcBef>
            </a:pPr>
            <a:r>
              <a:rPr lang="en-US" sz="230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L'absence de résultat signifie mathématiquement qu'il n'existe aucune trace de suppression ou de modification sur les 41 377 tickets. </a:t>
            </a:r>
          </a:p>
          <a:p>
            <a:pPr algn="l">
              <a:lnSpc>
                <a:spcPts val="3455"/>
              </a:lnSpc>
              <a:spcBef>
                <a:spcPct val="0"/>
              </a:spcBef>
            </a:pPr>
            <a:r>
              <a:rPr lang="en-US" sz="230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Donc aucun </a:t>
            </a:r>
            <a:r>
              <a:rPr lang="en-US" sz="2303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DELETE</a:t>
            </a:r>
            <a:r>
              <a:rPr lang="en-US" sz="230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(suppression) ni </a:t>
            </a:r>
            <a:r>
              <a:rPr lang="en-US" sz="2303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UPDATE</a:t>
            </a:r>
            <a:r>
              <a:rPr lang="en-US" sz="230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(modification) sur les tickets de caisse.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063331" y="8498562"/>
            <a:ext cx="7301508" cy="4223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La Réponse : ❌ EVENTUELLE FRAUDE ECARTÉE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011663" y="1183276"/>
            <a:ext cx="264674" cy="264674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B6E50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 rot="1195273">
            <a:off x="13624221" y="5720456"/>
            <a:ext cx="8888398" cy="7514736"/>
          </a:xfrm>
          <a:custGeom>
            <a:avLst/>
            <a:gdLst/>
            <a:ahLst/>
            <a:cxnLst/>
            <a:rect l="l" t="t" r="r" b="b"/>
            <a:pathLst>
              <a:path w="8888398" h="7514736">
                <a:moveTo>
                  <a:pt x="0" y="0"/>
                </a:moveTo>
                <a:lnTo>
                  <a:pt x="8888397" y="0"/>
                </a:lnTo>
                <a:lnTo>
                  <a:pt x="8888397" y="7514737"/>
                </a:lnTo>
                <a:lnTo>
                  <a:pt x="0" y="751473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8470115">
            <a:off x="17253124" y="7683832"/>
            <a:ext cx="4495479" cy="3587985"/>
          </a:xfrm>
          <a:custGeom>
            <a:avLst/>
            <a:gdLst/>
            <a:ahLst/>
            <a:cxnLst/>
            <a:rect l="l" t="t" r="r" b="b"/>
            <a:pathLst>
              <a:path w="4495479" h="3587985">
                <a:moveTo>
                  <a:pt x="0" y="0"/>
                </a:moveTo>
                <a:lnTo>
                  <a:pt x="4495479" y="0"/>
                </a:lnTo>
                <a:lnTo>
                  <a:pt x="4495479" y="3587985"/>
                </a:lnTo>
                <a:lnTo>
                  <a:pt x="0" y="358798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311898" y="2095578"/>
            <a:ext cx="525999" cy="525999"/>
            <a:chOff x="0" y="0"/>
            <a:chExt cx="6350000" cy="63500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4F4F8C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16924170" y="204366"/>
            <a:ext cx="1144250" cy="1144250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155617" y="0"/>
                  </a:moveTo>
                  <a:lnTo>
                    <a:pt x="657183" y="0"/>
                  </a:lnTo>
                  <a:cubicBezTo>
                    <a:pt x="743128" y="0"/>
                    <a:pt x="812800" y="69672"/>
                    <a:pt x="812800" y="155617"/>
                  </a:cubicBezTo>
                  <a:lnTo>
                    <a:pt x="812800" y="657183"/>
                  </a:lnTo>
                  <a:cubicBezTo>
                    <a:pt x="812800" y="743128"/>
                    <a:pt x="743128" y="812800"/>
                    <a:pt x="657183" y="812800"/>
                  </a:cubicBezTo>
                  <a:lnTo>
                    <a:pt x="155617" y="812800"/>
                  </a:lnTo>
                  <a:cubicBezTo>
                    <a:pt x="69672" y="812800"/>
                    <a:pt x="0" y="743128"/>
                    <a:pt x="0" y="657183"/>
                  </a:cubicBezTo>
                  <a:lnTo>
                    <a:pt x="0" y="155617"/>
                  </a:lnTo>
                  <a:cubicBezTo>
                    <a:pt x="0" y="69672"/>
                    <a:pt x="69672" y="0"/>
                    <a:pt x="155617" y="0"/>
                  </a:cubicBezTo>
                  <a:close/>
                </a:path>
              </a:pathLst>
            </a:custGeom>
            <a:blipFill>
              <a:blip r:embed="rId5"/>
              <a:stretch>
                <a:fillRect l="-74960" t="-12657" r="-80133" b="-30195"/>
              </a:stretch>
            </a:blipFill>
          </p:spPr>
        </p:sp>
      </p:grpSp>
      <p:sp>
        <p:nvSpPr>
          <p:cNvPr id="11" name="Freeform 11"/>
          <p:cNvSpPr/>
          <p:nvPr/>
        </p:nvSpPr>
        <p:spPr>
          <a:xfrm>
            <a:off x="9607230" y="6260875"/>
            <a:ext cx="6603373" cy="2527437"/>
          </a:xfrm>
          <a:custGeom>
            <a:avLst/>
            <a:gdLst/>
            <a:ahLst/>
            <a:cxnLst/>
            <a:rect l="l" t="t" r="r" b="b"/>
            <a:pathLst>
              <a:path w="6603373" h="2527437">
                <a:moveTo>
                  <a:pt x="0" y="0"/>
                </a:moveTo>
                <a:lnTo>
                  <a:pt x="6603373" y="0"/>
                </a:lnTo>
                <a:lnTo>
                  <a:pt x="6603373" y="2527437"/>
                </a:lnTo>
                <a:lnTo>
                  <a:pt x="0" y="252743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028700" y="6361133"/>
            <a:ext cx="8205886" cy="2605043"/>
          </a:xfrm>
          <a:custGeom>
            <a:avLst/>
            <a:gdLst/>
            <a:ahLst/>
            <a:cxnLst/>
            <a:rect l="l" t="t" r="r" b="b"/>
            <a:pathLst>
              <a:path w="8205886" h="2605043">
                <a:moveTo>
                  <a:pt x="0" y="0"/>
                </a:moveTo>
                <a:lnTo>
                  <a:pt x="8205886" y="0"/>
                </a:lnTo>
                <a:lnTo>
                  <a:pt x="8205886" y="2605043"/>
                </a:lnTo>
                <a:lnTo>
                  <a:pt x="0" y="260504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1504258" y="333408"/>
            <a:ext cx="15014809" cy="12285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00"/>
              </a:lnSpc>
            </a:pPr>
            <a:r>
              <a:rPr lang="en-US" sz="4000" b="1">
                <a:solidFill>
                  <a:srgbClr val="000000"/>
                </a:solidFill>
                <a:latin typeface="TS Qamus Bold"/>
                <a:ea typeface="TS Qamus Bold"/>
                <a:cs typeface="TS Qamus Bold"/>
                <a:sym typeface="TS Qamus Bold"/>
              </a:rPr>
              <a:t>Hypothèse N°1 (Ecartée) - Les 575 UPDATE de Prix</a:t>
            </a:r>
          </a:p>
          <a:p>
            <a:pPr marL="0" lvl="0" indent="0" algn="ctr">
              <a:lnSpc>
                <a:spcPts val="4800"/>
              </a:lnSpc>
              <a:spcBef>
                <a:spcPct val="0"/>
              </a:spcBef>
            </a:pPr>
            <a:endParaRPr lang="en-US" sz="4000" b="1">
              <a:solidFill>
                <a:srgbClr val="000000"/>
              </a:solidFill>
              <a:latin typeface="TS Qamus Bold"/>
              <a:ea typeface="TS Qamus Bold"/>
              <a:cs typeface="TS Qamus Bold"/>
              <a:sym typeface="TS Qamus Bold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107164" y="2116683"/>
            <a:ext cx="2692283" cy="417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55"/>
              </a:lnSpc>
              <a:spcBef>
                <a:spcPct val="0"/>
              </a:spcBef>
            </a:pPr>
            <a:r>
              <a:rPr lang="en-US" sz="2303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L'Hypothèse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578351" y="2819490"/>
            <a:ext cx="15808193" cy="4223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Les 575 mises à jour de prix auraient-elles été effectuées </a:t>
            </a:r>
            <a:r>
              <a:rPr lang="en-US" sz="2499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après</a:t>
            </a:r>
            <a:r>
              <a:rPr lang="en-US" sz="2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le 14 août, faussant rétroactivement le CA ?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961607" y="9375751"/>
            <a:ext cx="5855891" cy="4223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La Réponse : ❌ HYPOTHÈSE ECARTÉE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07164" y="3625792"/>
            <a:ext cx="15646467" cy="21752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 Tous les </a:t>
            </a:r>
            <a:r>
              <a:rPr lang="en-US" sz="2499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UPDATE</a:t>
            </a:r>
            <a:r>
              <a:rPr lang="en-US" sz="2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de prix observés dans les </a:t>
            </a:r>
            <a:r>
              <a:rPr lang="en-US" sz="2499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logs</a:t>
            </a:r>
            <a:r>
              <a:rPr lang="en-US" sz="2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sont datés </a:t>
            </a:r>
            <a:r>
              <a:rPr lang="en-US" sz="2499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exactement du 45518</a:t>
            </a:r>
            <a:r>
              <a:rPr lang="en-US" sz="2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(le 14 août lui-même).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    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 Les modifications ont été effectuées </a:t>
            </a:r>
            <a:r>
              <a:rPr lang="en-US" sz="2499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le jour-même</a:t>
            </a:r>
            <a:r>
              <a:rPr lang="en-US" sz="2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des ventes, et non après.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    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 Ils n'expliquent donc pas le delta de J+2.</a:t>
            </a:r>
          </a:p>
        </p:txBody>
      </p:sp>
      <p:sp>
        <p:nvSpPr>
          <p:cNvPr id="18" name="Freeform 18"/>
          <p:cNvSpPr/>
          <p:nvPr/>
        </p:nvSpPr>
        <p:spPr>
          <a:xfrm rot="9279778">
            <a:off x="10765592" y="8156200"/>
            <a:ext cx="846572" cy="253972"/>
          </a:xfrm>
          <a:custGeom>
            <a:avLst/>
            <a:gdLst/>
            <a:ahLst/>
            <a:cxnLst/>
            <a:rect l="l" t="t" r="r" b="b"/>
            <a:pathLst>
              <a:path w="846572" h="253972">
                <a:moveTo>
                  <a:pt x="0" y="0"/>
                </a:moveTo>
                <a:lnTo>
                  <a:pt x="846572" y="0"/>
                </a:lnTo>
                <a:lnTo>
                  <a:pt x="846572" y="253971"/>
                </a:lnTo>
                <a:lnTo>
                  <a:pt x="0" y="25397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9" name="TextBox 19"/>
          <p:cNvSpPr txBox="1"/>
          <p:nvPr/>
        </p:nvSpPr>
        <p:spPr>
          <a:xfrm>
            <a:off x="13465386" y="7665949"/>
            <a:ext cx="2456396" cy="3213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45"/>
              </a:lnSpc>
              <a:spcBef>
                <a:spcPct val="0"/>
              </a:spcBef>
            </a:pPr>
            <a:r>
              <a:rPr lang="en-US" sz="1889" b="1">
                <a:solidFill>
                  <a:srgbClr val="FFFAF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Indique le jour exact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011663" y="1183276"/>
            <a:ext cx="264674" cy="264674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B6E50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 rot="1195273">
            <a:off x="11446498" y="6483951"/>
            <a:ext cx="8888398" cy="7514736"/>
          </a:xfrm>
          <a:custGeom>
            <a:avLst/>
            <a:gdLst/>
            <a:ahLst/>
            <a:cxnLst/>
            <a:rect l="l" t="t" r="r" b="b"/>
            <a:pathLst>
              <a:path w="8888398" h="7514736">
                <a:moveTo>
                  <a:pt x="0" y="0"/>
                </a:moveTo>
                <a:lnTo>
                  <a:pt x="8888398" y="0"/>
                </a:lnTo>
                <a:lnTo>
                  <a:pt x="8888398" y="7514737"/>
                </a:lnTo>
                <a:lnTo>
                  <a:pt x="0" y="751473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8470115">
            <a:off x="17253124" y="7683832"/>
            <a:ext cx="4495479" cy="3587985"/>
          </a:xfrm>
          <a:custGeom>
            <a:avLst/>
            <a:gdLst/>
            <a:ahLst/>
            <a:cxnLst/>
            <a:rect l="l" t="t" r="r" b="b"/>
            <a:pathLst>
              <a:path w="4495479" h="3587985">
                <a:moveTo>
                  <a:pt x="0" y="0"/>
                </a:moveTo>
                <a:lnTo>
                  <a:pt x="4495479" y="0"/>
                </a:lnTo>
                <a:lnTo>
                  <a:pt x="4495479" y="3587985"/>
                </a:lnTo>
                <a:lnTo>
                  <a:pt x="0" y="358798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227377" y="1562001"/>
            <a:ext cx="525999" cy="525999"/>
            <a:chOff x="0" y="0"/>
            <a:chExt cx="6350000" cy="63500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4F4F8C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16924170" y="204366"/>
            <a:ext cx="1144250" cy="1144250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155617" y="0"/>
                  </a:moveTo>
                  <a:lnTo>
                    <a:pt x="657183" y="0"/>
                  </a:lnTo>
                  <a:cubicBezTo>
                    <a:pt x="743128" y="0"/>
                    <a:pt x="812800" y="69672"/>
                    <a:pt x="812800" y="155617"/>
                  </a:cubicBezTo>
                  <a:lnTo>
                    <a:pt x="812800" y="657183"/>
                  </a:lnTo>
                  <a:cubicBezTo>
                    <a:pt x="812800" y="743128"/>
                    <a:pt x="743128" y="812800"/>
                    <a:pt x="657183" y="812800"/>
                  </a:cubicBezTo>
                  <a:lnTo>
                    <a:pt x="155617" y="812800"/>
                  </a:lnTo>
                  <a:cubicBezTo>
                    <a:pt x="69672" y="812800"/>
                    <a:pt x="0" y="743128"/>
                    <a:pt x="0" y="657183"/>
                  </a:cubicBezTo>
                  <a:lnTo>
                    <a:pt x="0" y="155617"/>
                  </a:lnTo>
                  <a:cubicBezTo>
                    <a:pt x="0" y="69672"/>
                    <a:pt x="69672" y="0"/>
                    <a:pt x="155617" y="0"/>
                  </a:cubicBezTo>
                  <a:close/>
                </a:path>
              </a:pathLst>
            </a:custGeom>
            <a:blipFill>
              <a:blip r:embed="rId5"/>
              <a:stretch>
                <a:fillRect l="-74960" t="-12657" r="-80133" b="-30195"/>
              </a:stretch>
            </a:blipFill>
          </p:spPr>
        </p:sp>
      </p:grpSp>
      <p:sp>
        <p:nvSpPr>
          <p:cNvPr id="12" name="Freeform 12"/>
          <p:cNvSpPr/>
          <p:nvPr/>
        </p:nvSpPr>
        <p:spPr>
          <a:xfrm>
            <a:off x="7034214" y="2482062"/>
            <a:ext cx="11253786" cy="2838534"/>
          </a:xfrm>
          <a:custGeom>
            <a:avLst/>
            <a:gdLst/>
            <a:ahLst/>
            <a:cxnLst/>
            <a:rect l="l" t="t" r="r" b="b"/>
            <a:pathLst>
              <a:path w="11253786" h="2838534">
                <a:moveTo>
                  <a:pt x="0" y="0"/>
                </a:moveTo>
                <a:lnTo>
                  <a:pt x="11253786" y="0"/>
                </a:lnTo>
                <a:lnTo>
                  <a:pt x="11253786" y="2838534"/>
                </a:lnTo>
                <a:lnTo>
                  <a:pt x="0" y="283853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227377" y="2621400"/>
            <a:ext cx="6528931" cy="2559858"/>
          </a:xfrm>
          <a:custGeom>
            <a:avLst/>
            <a:gdLst/>
            <a:ahLst/>
            <a:cxnLst/>
            <a:rect l="l" t="t" r="r" b="b"/>
            <a:pathLst>
              <a:path w="6528931" h="2559858">
                <a:moveTo>
                  <a:pt x="0" y="0"/>
                </a:moveTo>
                <a:lnTo>
                  <a:pt x="6528931" y="0"/>
                </a:lnTo>
                <a:lnTo>
                  <a:pt x="6528931" y="2559858"/>
                </a:lnTo>
                <a:lnTo>
                  <a:pt x="0" y="255985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 rot="9279778">
            <a:off x="11463060" y="4449433"/>
            <a:ext cx="1410081" cy="423024"/>
          </a:xfrm>
          <a:custGeom>
            <a:avLst/>
            <a:gdLst/>
            <a:ahLst/>
            <a:cxnLst/>
            <a:rect l="l" t="t" r="r" b="b"/>
            <a:pathLst>
              <a:path w="1410081" h="423024">
                <a:moveTo>
                  <a:pt x="0" y="0"/>
                </a:moveTo>
                <a:lnTo>
                  <a:pt x="1410081" y="0"/>
                </a:lnTo>
                <a:lnTo>
                  <a:pt x="1410081" y="423024"/>
                </a:lnTo>
                <a:lnTo>
                  <a:pt x="0" y="42302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1282825" y="333408"/>
            <a:ext cx="15236242" cy="12285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00"/>
              </a:lnSpc>
            </a:pPr>
            <a:r>
              <a:rPr lang="en-US" sz="4000" b="1">
                <a:solidFill>
                  <a:srgbClr val="000000"/>
                </a:solidFill>
                <a:latin typeface="TS Qamus Bold"/>
                <a:ea typeface="TS Qamus Bold"/>
                <a:cs typeface="TS Qamus Bold"/>
                <a:sym typeface="TS Qamus Bold"/>
              </a:rPr>
              <a:t>Hypothèse N°2 - Volume de Ventes par Jour d'Insertion</a:t>
            </a:r>
          </a:p>
          <a:p>
            <a:pPr marL="0" lvl="0" indent="0" algn="ctr">
              <a:lnSpc>
                <a:spcPts val="4800"/>
              </a:lnSpc>
              <a:spcBef>
                <a:spcPct val="0"/>
              </a:spcBef>
            </a:pPr>
            <a:endParaRPr lang="en-US" sz="4000" b="1">
              <a:solidFill>
                <a:srgbClr val="000000"/>
              </a:solidFill>
              <a:latin typeface="TS Qamus Bold"/>
              <a:ea typeface="TS Qamus Bold"/>
              <a:cs typeface="TS Qamus Bold"/>
              <a:sym typeface="TS Qamus Bold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022643" y="1583105"/>
            <a:ext cx="8826012" cy="417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55"/>
              </a:lnSpc>
              <a:spcBef>
                <a:spcPct val="0"/>
              </a:spcBef>
            </a:pPr>
            <a:r>
              <a:rPr lang="en-US" sz="2303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La preuve par les chiffres : Le décalage des 1 379 ventes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05376" y="9245092"/>
            <a:ext cx="16218794" cy="8605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Le passage de </a:t>
            </a:r>
            <a:r>
              <a:rPr lang="en-US" sz="2499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39 998</a:t>
            </a:r>
            <a:r>
              <a:rPr lang="en-US" sz="2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à </a:t>
            </a:r>
            <a:r>
              <a:rPr lang="en-US" sz="2499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41 377</a:t>
            </a:r>
            <a:r>
              <a:rPr lang="en-US" sz="2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ventes explique mathématiquement le passage de </a:t>
            </a:r>
            <a:r>
              <a:rPr lang="en-US" sz="2499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275 186,59 €</a:t>
            </a:r>
            <a:r>
              <a:rPr lang="en-US" sz="2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à </a:t>
            </a:r>
            <a:r>
              <a:rPr lang="en-US" sz="2499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284 243,88 €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le 14 AOUT 2025</a:t>
            </a:r>
            <a:r>
              <a:rPr lang="en-US" sz="2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982690" y="4120438"/>
            <a:ext cx="3145069" cy="4223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b="1">
                <a:solidFill>
                  <a:srgbClr val="FFFAF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donne : 284 243,88 €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5240579" y="8570338"/>
            <a:ext cx="7742112" cy="4223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La Réponse : ✅ HYPOTHÈSE CONFIRMÉ</a:t>
            </a:r>
          </a:p>
        </p:txBody>
      </p:sp>
      <p:graphicFrame>
        <p:nvGraphicFramePr>
          <p:cNvPr id="20" name="Tableau 19">
            <a:extLst>
              <a:ext uri="{FF2B5EF4-FFF2-40B4-BE49-F238E27FC236}">
                <a16:creationId xmlns:a16="http://schemas.microsoft.com/office/drawing/2014/main" id="{9F6F989F-D1C3-D89F-5C8F-28CEB57797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2033135"/>
              </p:ext>
            </p:extLst>
          </p:nvPr>
        </p:nvGraphicFramePr>
        <p:xfrm>
          <a:off x="5423388" y="5714658"/>
          <a:ext cx="8826012" cy="2705441"/>
        </p:xfrm>
        <a:graphic>
          <a:graphicData uri="http://schemas.openxmlformats.org/drawingml/2006/table">
            <a:tbl>
              <a:tblPr/>
              <a:tblGrid>
                <a:gridCol w="2206503">
                  <a:extLst>
                    <a:ext uri="{9D8B030D-6E8A-4147-A177-3AD203B41FA5}">
                      <a16:colId xmlns:a16="http://schemas.microsoft.com/office/drawing/2014/main" val="1335198127"/>
                    </a:ext>
                  </a:extLst>
                </a:gridCol>
                <a:gridCol w="2206503">
                  <a:extLst>
                    <a:ext uri="{9D8B030D-6E8A-4147-A177-3AD203B41FA5}">
                      <a16:colId xmlns:a16="http://schemas.microsoft.com/office/drawing/2014/main" val="3155270326"/>
                    </a:ext>
                  </a:extLst>
                </a:gridCol>
                <a:gridCol w="2206503">
                  <a:extLst>
                    <a:ext uri="{9D8B030D-6E8A-4147-A177-3AD203B41FA5}">
                      <a16:colId xmlns:a16="http://schemas.microsoft.com/office/drawing/2014/main" val="3206334743"/>
                    </a:ext>
                  </a:extLst>
                </a:gridCol>
                <a:gridCol w="2206503">
                  <a:extLst>
                    <a:ext uri="{9D8B030D-6E8A-4147-A177-3AD203B41FA5}">
                      <a16:colId xmlns:a16="http://schemas.microsoft.com/office/drawing/2014/main" val="838976304"/>
                    </a:ext>
                  </a:extLst>
                </a:gridCol>
              </a:tblGrid>
              <a:tr h="6606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b="0">
                          <a:effectLst/>
                        </a:rPr>
                        <a:t>Date d'Insertion (Log)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1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2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b="0">
                          <a:effectLst/>
                        </a:rPr>
                        <a:t>Date de Vente (Excel)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1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2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b="0">
                          <a:effectLst/>
                        </a:rPr>
                        <a:t>Nb Ventes Insertées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1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2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b="0">
                          <a:effectLst/>
                        </a:rPr>
                        <a:t>État lors de l'Audit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1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2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1254113"/>
                  </a:ext>
                </a:extLst>
              </a:tr>
              <a:tr h="697988">
                <a:tc>
                  <a:txBody>
                    <a:bodyPr/>
                    <a:lstStyle/>
                    <a:p>
                      <a:pPr algn="l" rtl="0">
                        <a:buNone/>
                      </a:pPr>
                      <a:r>
                        <a:rPr lang="fr-FR" b="0" i="0">
                          <a:solidFill>
                            <a:srgbClr val="000000"/>
                          </a:solidFill>
                          <a:effectLst/>
                        </a:rPr>
                        <a:t>📅 </a:t>
                      </a:r>
                      <a:r>
                        <a:rPr lang="fr-FR" b="1" i="0">
                          <a:solidFill>
                            <a:srgbClr val="000000"/>
                          </a:solidFill>
                          <a:effectLst/>
                        </a:rPr>
                        <a:t>14 août 2024</a:t>
                      </a:r>
                      <a:endParaRPr lang="fr-FR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>
                          <a:effectLst/>
                        </a:rPr>
                        <a:t>45518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1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b="1">
                          <a:effectLst/>
                        </a:rPr>
                        <a:t>39 998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1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>
                          <a:effectLst/>
                        </a:rPr>
                        <a:t>Présentes dans l'extraction initiale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1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5352911"/>
                  </a:ext>
                </a:extLst>
              </a:tr>
              <a:tr h="697988">
                <a:tc>
                  <a:txBody>
                    <a:bodyPr/>
                    <a:lstStyle/>
                    <a:p>
                      <a:pPr algn="l" rtl="0">
                        <a:buNone/>
                      </a:pPr>
                      <a:r>
                        <a:rPr lang="fr-FR" b="0" i="0" dirty="0">
                          <a:solidFill>
                            <a:srgbClr val="000000"/>
                          </a:solidFill>
                          <a:effectLst/>
                        </a:rPr>
                        <a:t>📅 </a:t>
                      </a:r>
                      <a:r>
                        <a:rPr lang="fr-FR" b="1" i="0" dirty="0">
                          <a:solidFill>
                            <a:srgbClr val="000000"/>
                          </a:solidFill>
                          <a:effectLst/>
                        </a:rPr>
                        <a:t>15 août 2024</a:t>
                      </a:r>
                      <a:endParaRPr lang="fr-FR" dirty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>
                          <a:effectLst/>
                        </a:rPr>
                        <a:t>45518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1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b="1">
                          <a:effectLst/>
                        </a:rPr>
                        <a:t>1 379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1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b="1">
                          <a:effectLst/>
                        </a:rPr>
                        <a:t>Ajoutées rétroactivement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1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5807555"/>
                  </a:ext>
                </a:extLst>
              </a:tr>
              <a:tr h="6488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b="1">
                          <a:effectLst/>
                        </a:rPr>
                        <a:t>TOTAL GÉNÉRAL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1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fr-FR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b="1">
                          <a:effectLst/>
                        </a:rPr>
                        <a:t>41 377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1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b="1" dirty="0">
                          <a:effectLst/>
                        </a:rPr>
                        <a:t>Total Final 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1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685995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011663" y="941033"/>
            <a:ext cx="264674" cy="264674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B6E50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 rot="1195273">
            <a:off x="11479713" y="6529632"/>
            <a:ext cx="8888398" cy="7514736"/>
          </a:xfrm>
          <a:custGeom>
            <a:avLst/>
            <a:gdLst/>
            <a:ahLst/>
            <a:cxnLst/>
            <a:rect l="l" t="t" r="r" b="b"/>
            <a:pathLst>
              <a:path w="8888398" h="7514736">
                <a:moveTo>
                  <a:pt x="0" y="0"/>
                </a:moveTo>
                <a:lnTo>
                  <a:pt x="8888398" y="0"/>
                </a:lnTo>
                <a:lnTo>
                  <a:pt x="8888398" y="7514736"/>
                </a:lnTo>
                <a:lnTo>
                  <a:pt x="0" y="751473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8470115">
            <a:off x="17253124" y="7683832"/>
            <a:ext cx="4495479" cy="3587985"/>
          </a:xfrm>
          <a:custGeom>
            <a:avLst/>
            <a:gdLst/>
            <a:ahLst/>
            <a:cxnLst/>
            <a:rect l="l" t="t" r="r" b="b"/>
            <a:pathLst>
              <a:path w="4495479" h="3587985">
                <a:moveTo>
                  <a:pt x="0" y="0"/>
                </a:moveTo>
                <a:lnTo>
                  <a:pt x="4495479" y="0"/>
                </a:lnTo>
                <a:lnTo>
                  <a:pt x="4495479" y="3587985"/>
                </a:lnTo>
                <a:lnTo>
                  <a:pt x="0" y="358798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599100" y="1265855"/>
            <a:ext cx="525999" cy="525999"/>
            <a:chOff x="0" y="0"/>
            <a:chExt cx="6350000" cy="63500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66C4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16924170" y="204366"/>
            <a:ext cx="1144250" cy="1144250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155617" y="0"/>
                  </a:moveTo>
                  <a:lnTo>
                    <a:pt x="657183" y="0"/>
                  </a:lnTo>
                  <a:cubicBezTo>
                    <a:pt x="743128" y="0"/>
                    <a:pt x="812800" y="69672"/>
                    <a:pt x="812800" y="155617"/>
                  </a:cubicBezTo>
                  <a:lnTo>
                    <a:pt x="812800" y="657183"/>
                  </a:lnTo>
                  <a:cubicBezTo>
                    <a:pt x="812800" y="743128"/>
                    <a:pt x="743128" y="812800"/>
                    <a:pt x="657183" y="812800"/>
                  </a:cubicBezTo>
                  <a:lnTo>
                    <a:pt x="155617" y="812800"/>
                  </a:lnTo>
                  <a:cubicBezTo>
                    <a:pt x="69672" y="812800"/>
                    <a:pt x="0" y="743128"/>
                    <a:pt x="0" y="657183"/>
                  </a:cubicBezTo>
                  <a:lnTo>
                    <a:pt x="0" y="155617"/>
                  </a:lnTo>
                  <a:cubicBezTo>
                    <a:pt x="0" y="69672"/>
                    <a:pt x="69672" y="0"/>
                    <a:pt x="155617" y="0"/>
                  </a:cubicBezTo>
                  <a:close/>
                </a:path>
              </a:pathLst>
            </a:custGeom>
            <a:blipFill>
              <a:blip r:embed="rId5"/>
              <a:stretch>
                <a:fillRect l="-74960" t="-12657" r="-80133" b="-30195"/>
              </a:stretch>
            </a:blipFill>
          </p:spPr>
        </p:sp>
      </p:grpSp>
      <p:graphicFrame>
        <p:nvGraphicFramePr>
          <p:cNvPr id="11" name="Object 11"/>
          <p:cNvGraphicFramePr/>
          <p:nvPr/>
        </p:nvGraphicFramePr>
        <p:xfrm>
          <a:off x="1690194" y="7448974"/>
          <a:ext cx="5657850" cy="2514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6" imgW="6781800" imgH="3644900" progId="Excel.Sheet.12">
                  <p:embed/>
                </p:oleObj>
              </mc:Choice>
              <mc:Fallback>
                <p:oleObj name="Worksheet" r:id="rId6" imgW="6781800" imgH="36449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690194" y="7448974"/>
                        <a:ext cx="5657850" cy="2514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2" name="Group 12"/>
          <p:cNvGrpSpPr/>
          <p:nvPr/>
        </p:nvGrpSpPr>
        <p:grpSpPr>
          <a:xfrm>
            <a:off x="599100" y="5164882"/>
            <a:ext cx="525999" cy="525999"/>
            <a:chOff x="0" y="0"/>
            <a:chExt cx="6350000" cy="63500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D6B0"/>
            </a:solidFill>
          </p:spPr>
        </p:sp>
      </p:grpSp>
      <p:sp>
        <p:nvSpPr>
          <p:cNvPr id="14" name="Freeform 14"/>
          <p:cNvSpPr/>
          <p:nvPr/>
        </p:nvSpPr>
        <p:spPr>
          <a:xfrm>
            <a:off x="8121558" y="4557089"/>
            <a:ext cx="8503440" cy="2267584"/>
          </a:xfrm>
          <a:custGeom>
            <a:avLst/>
            <a:gdLst/>
            <a:ahLst/>
            <a:cxnLst/>
            <a:rect l="l" t="t" r="r" b="b"/>
            <a:pathLst>
              <a:path w="8503440" h="2267584">
                <a:moveTo>
                  <a:pt x="0" y="0"/>
                </a:moveTo>
                <a:lnTo>
                  <a:pt x="8503441" y="0"/>
                </a:lnTo>
                <a:lnTo>
                  <a:pt x="8503441" y="2267584"/>
                </a:lnTo>
                <a:lnTo>
                  <a:pt x="0" y="226758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862099" y="2498165"/>
            <a:ext cx="10565605" cy="1493944"/>
          </a:xfrm>
          <a:custGeom>
            <a:avLst/>
            <a:gdLst/>
            <a:ahLst/>
            <a:cxnLst/>
            <a:rect l="l" t="t" r="r" b="b"/>
            <a:pathLst>
              <a:path w="10565605" h="1493944">
                <a:moveTo>
                  <a:pt x="0" y="0"/>
                </a:moveTo>
                <a:lnTo>
                  <a:pt x="10565605" y="0"/>
                </a:lnTo>
                <a:lnTo>
                  <a:pt x="10565605" y="1493944"/>
                </a:lnTo>
                <a:lnTo>
                  <a:pt x="0" y="149394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311898" y="185316"/>
            <a:ext cx="16612272" cy="7048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400"/>
              </a:lnSpc>
              <a:spcBef>
                <a:spcPct val="0"/>
              </a:spcBef>
            </a:pPr>
            <a:r>
              <a:rPr lang="en-US" sz="4500" b="1">
                <a:solidFill>
                  <a:srgbClr val="000000"/>
                </a:solidFill>
                <a:latin typeface="TS Qamus Bold"/>
                <a:ea typeface="TS Qamus Bold"/>
                <a:cs typeface="TS Qamus Bold"/>
                <a:sym typeface="TS Qamus Bold"/>
              </a:rPr>
              <a:t>Mission 2 - Résolution Financière de l'Énigme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25099" y="1266132"/>
            <a:ext cx="9223210" cy="8605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Requête SQL avec `WHERE date_achat_excel = 45518</a:t>
            </a:r>
          </a:p>
          <a:p>
            <a:pPr algn="ctr">
              <a:lnSpc>
                <a:spcPts val="3499"/>
              </a:lnSpc>
              <a:spcBef>
                <a:spcPct val="0"/>
              </a:spcBef>
            </a:pPr>
            <a:endParaRPr lang="en-US" sz="2499" b="1">
              <a:solidFill>
                <a:srgbClr val="000000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1242195" y="5236789"/>
            <a:ext cx="9223210" cy="8605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Résultat financier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endParaRPr lang="en-US" sz="2499" b="1">
              <a:solidFill>
                <a:srgbClr val="000000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011663" y="941033"/>
            <a:ext cx="264674" cy="264674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B6E50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 rot="1195273">
            <a:off x="11479713" y="6529632"/>
            <a:ext cx="8888398" cy="7514736"/>
          </a:xfrm>
          <a:custGeom>
            <a:avLst/>
            <a:gdLst/>
            <a:ahLst/>
            <a:cxnLst/>
            <a:rect l="l" t="t" r="r" b="b"/>
            <a:pathLst>
              <a:path w="8888398" h="7514736">
                <a:moveTo>
                  <a:pt x="0" y="0"/>
                </a:moveTo>
                <a:lnTo>
                  <a:pt x="8888398" y="0"/>
                </a:lnTo>
                <a:lnTo>
                  <a:pt x="8888398" y="7514736"/>
                </a:lnTo>
                <a:lnTo>
                  <a:pt x="0" y="751473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8470115">
            <a:off x="17253124" y="7683832"/>
            <a:ext cx="4495479" cy="3587985"/>
          </a:xfrm>
          <a:custGeom>
            <a:avLst/>
            <a:gdLst/>
            <a:ahLst/>
            <a:cxnLst/>
            <a:rect l="l" t="t" r="r" b="b"/>
            <a:pathLst>
              <a:path w="4495479" h="3587985">
                <a:moveTo>
                  <a:pt x="0" y="0"/>
                </a:moveTo>
                <a:lnTo>
                  <a:pt x="4495479" y="0"/>
                </a:lnTo>
                <a:lnTo>
                  <a:pt x="4495479" y="3587985"/>
                </a:lnTo>
                <a:lnTo>
                  <a:pt x="0" y="358798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1163888" y="2531760"/>
            <a:ext cx="525999" cy="525999"/>
            <a:chOff x="0" y="0"/>
            <a:chExt cx="6350000" cy="63500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66C4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16924170" y="204366"/>
            <a:ext cx="1144250" cy="1144250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155617" y="0"/>
                  </a:moveTo>
                  <a:lnTo>
                    <a:pt x="657183" y="0"/>
                  </a:lnTo>
                  <a:cubicBezTo>
                    <a:pt x="743128" y="0"/>
                    <a:pt x="812800" y="69672"/>
                    <a:pt x="812800" y="155617"/>
                  </a:cubicBezTo>
                  <a:lnTo>
                    <a:pt x="812800" y="657183"/>
                  </a:lnTo>
                  <a:cubicBezTo>
                    <a:pt x="812800" y="743128"/>
                    <a:pt x="743128" y="812800"/>
                    <a:pt x="657183" y="812800"/>
                  </a:cubicBezTo>
                  <a:lnTo>
                    <a:pt x="155617" y="812800"/>
                  </a:lnTo>
                  <a:cubicBezTo>
                    <a:pt x="69672" y="812800"/>
                    <a:pt x="0" y="743128"/>
                    <a:pt x="0" y="657183"/>
                  </a:cubicBezTo>
                  <a:lnTo>
                    <a:pt x="0" y="155617"/>
                  </a:lnTo>
                  <a:cubicBezTo>
                    <a:pt x="0" y="69672"/>
                    <a:pt x="69672" y="0"/>
                    <a:pt x="155617" y="0"/>
                  </a:cubicBezTo>
                  <a:close/>
                </a:path>
              </a:pathLst>
            </a:custGeom>
            <a:blipFill>
              <a:blip r:embed="rId5"/>
              <a:stretch>
                <a:fillRect l="-74960" t="-12657" r="-80133" b="-30195"/>
              </a:stretch>
            </a:blipFill>
          </p:spPr>
        </p:sp>
      </p:grpSp>
      <p:sp>
        <p:nvSpPr>
          <p:cNvPr id="11" name="TextBox 11"/>
          <p:cNvSpPr txBox="1"/>
          <p:nvPr/>
        </p:nvSpPr>
        <p:spPr>
          <a:xfrm>
            <a:off x="311898" y="71674"/>
            <a:ext cx="16612272" cy="13905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00"/>
              </a:lnSpc>
            </a:pPr>
            <a:r>
              <a:rPr lang="en-US" sz="4500" b="1">
                <a:solidFill>
                  <a:srgbClr val="000000"/>
                </a:solidFill>
                <a:latin typeface="TS Qamus Bold"/>
                <a:ea typeface="TS Qamus Bold"/>
                <a:cs typeface="TS Qamus Bold"/>
                <a:sym typeface="TS Qamus Bold"/>
              </a:rPr>
              <a:t> Pourquoi ces Ventes Tardives ? (Pistes Techniques)</a:t>
            </a:r>
          </a:p>
          <a:p>
            <a:pPr marL="0" lvl="0" indent="0" algn="ctr">
              <a:lnSpc>
                <a:spcPts val="5400"/>
              </a:lnSpc>
              <a:spcBef>
                <a:spcPct val="0"/>
              </a:spcBef>
            </a:pPr>
            <a:endParaRPr lang="en-US" sz="4500" b="1">
              <a:solidFill>
                <a:srgbClr val="000000"/>
              </a:solidFill>
              <a:latin typeface="TS Qamus Bold"/>
              <a:ea typeface="TS Qamus Bold"/>
              <a:cs typeface="TS Qamus Bold"/>
              <a:sym typeface="TS Qamus Bold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864871" y="2626780"/>
            <a:ext cx="14413948" cy="61191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Saturation de la BDD : 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endParaRPr lang="en-US" sz="2499" b="1">
              <a:solidFill>
                <a:srgbClr val="000000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La mémoire, le CPU ou les connexions disponibles ont pu bloquer temporairement l'intégration en temps réel.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endParaRPr lang="en-US" sz="2499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Conflit de contraintes : 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endParaRPr lang="en-US" sz="2499" b="1">
              <a:solidFill>
                <a:srgbClr val="000000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Un champ ou une clé mal défini(e) peut provoquer un bug lors du chargement et retarder des lots de ventes.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endParaRPr lang="en-US" sz="2499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Erreur de Pipeline : 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endParaRPr lang="en-US" sz="2499" b="1">
              <a:solidFill>
                <a:srgbClr val="000000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Une erreur dans le flux de données peut empêcher l'injection en temps réel, repoussant l'enregistrement au lendemain.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1163888" y="4714204"/>
            <a:ext cx="525999" cy="525999"/>
            <a:chOff x="0" y="0"/>
            <a:chExt cx="6350000" cy="63500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CB6CE6"/>
            </a:solidFill>
          </p:spPr>
        </p:sp>
      </p:grpSp>
      <p:grpSp>
        <p:nvGrpSpPr>
          <p:cNvPr id="15" name="Group 15"/>
          <p:cNvGrpSpPr/>
          <p:nvPr/>
        </p:nvGrpSpPr>
        <p:grpSpPr>
          <a:xfrm>
            <a:off x="1163888" y="6897553"/>
            <a:ext cx="525999" cy="525999"/>
            <a:chOff x="0" y="0"/>
            <a:chExt cx="6350000" cy="63500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64A39F"/>
            </a:solidFill>
          </p:spPr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011663" y="1001181"/>
            <a:ext cx="264674" cy="264674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B6E50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 rot="1195273">
            <a:off x="11479713" y="6529632"/>
            <a:ext cx="8888398" cy="7514736"/>
          </a:xfrm>
          <a:custGeom>
            <a:avLst/>
            <a:gdLst/>
            <a:ahLst/>
            <a:cxnLst/>
            <a:rect l="l" t="t" r="r" b="b"/>
            <a:pathLst>
              <a:path w="8888398" h="7514736">
                <a:moveTo>
                  <a:pt x="0" y="0"/>
                </a:moveTo>
                <a:lnTo>
                  <a:pt x="8888398" y="0"/>
                </a:lnTo>
                <a:lnTo>
                  <a:pt x="8888398" y="7514736"/>
                </a:lnTo>
                <a:lnTo>
                  <a:pt x="0" y="751473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8470115">
            <a:off x="17253124" y="7683832"/>
            <a:ext cx="4495479" cy="3587985"/>
          </a:xfrm>
          <a:custGeom>
            <a:avLst/>
            <a:gdLst/>
            <a:ahLst/>
            <a:cxnLst/>
            <a:rect l="l" t="t" r="r" b="b"/>
            <a:pathLst>
              <a:path w="4495479" h="3587985">
                <a:moveTo>
                  <a:pt x="0" y="0"/>
                </a:moveTo>
                <a:lnTo>
                  <a:pt x="4495479" y="0"/>
                </a:lnTo>
                <a:lnTo>
                  <a:pt x="4495479" y="3587985"/>
                </a:lnTo>
                <a:lnTo>
                  <a:pt x="0" y="358798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774379" y="1791854"/>
            <a:ext cx="525999" cy="525999"/>
            <a:chOff x="0" y="0"/>
            <a:chExt cx="6350000" cy="63500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4F4F8C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16924170" y="204366"/>
            <a:ext cx="1144250" cy="1144250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155617" y="0"/>
                  </a:moveTo>
                  <a:lnTo>
                    <a:pt x="657183" y="0"/>
                  </a:lnTo>
                  <a:cubicBezTo>
                    <a:pt x="743128" y="0"/>
                    <a:pt x="812800" y="69672"/>
                    <a:pt x="812800" y="155617"/>
                  </a:cubicBezTo>
                  <a:lnTo>
                    <a:pt x="812800" y="657183"/>
                  </a:lnTo>
                  <a:cubicBezTo>
                    <a:pt x="812800" y="743128"/>
                    <a:pt x="743128" y="812800"/>
                    <a:pt x="657183" y="812800"/>
                  </a:cubicBezTo>
                  <a:lnTo>
                    <a:pt x="155617" y="812800"/>
                  </a:lnTo>
                  <a:cubicBezTo>
                    <a:pt x="69672" y="812800"/>
                    <a:pt x="0" y="743128"/>
                    <a:pt x="0" y="657183"/>
                  </a:cubicBezTo>
                  <a:lnTo>
                    <a:pt x="0" y="155617"/>
                  </a:lnTo>
                  <a:cubicBezTo>
                    <a:pt x="0" y="69672"/>
                    <a:pt x="69672" y="0"/>
                    <a:pt x="155617" y="0"/>
                  </a:cubicBezTo>
                  <a:close/>
                </a:path>
              </a:pathLst>
            </a:custGeom>
            <a:blipFill>
              <a:blip r:embed="rId5"/>
              <a:stretch>
                <a:fillRect l="-74960" t="-12657" r="-80133" b="-30195"/>
              </a:stretch>
            </a:blipFill>
          </p:spPr>
        </p:sp>
      </p:grpSp>
      <p:sp>
        <p:nvSpPr>
          <p:cNvPr id="11" name="Freeform 11"/>
          <p:cNvSpPr/>
          <p:nvPr/>
        </p:nvSpPr>
        <p:spPr>
          <a:xfrm>
            <a:off x="6900795" y="1791854"/>
            <a:ext cx="4486411" cy="815711"/>
          </a:xfrm>
          <a:custGeom>
            <a:avLst/>
            <a:gdLst/>
            <a:ahLst/>
            <a:cxnLst/>
            <a:rect l="l" t="t" r="r" b="b"/>
            <a:pathLst>
              <a:path w="4486411" h="815711">
                <a:moveTo>
                  <a:pt x="0" y="0"/>
                </a:moveTo>
                <a:lnTo>
                  <a:pt x="4486410" y="0"/>
                </a:lnTo>
                <a:lnTo>
                  <a:pt x="4486410" y="815711"/>
                </a:lnTo>
                <a:lnTo>
                  <a:pt x="0" y="81571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grpSp>
        <p:nvGrpSpPr>
          <p:cNvPr id="12" name="Group 12"/>
          <p:cNvGrpSpPr/>
          <p:nvPr/>
        </p:nvGrpSpPr>
        <p:grpSpPr>
          <a:xfrm>
            <a:off x="774379" y="3118644"/>
            <a:ext cx="525999" cy="525999"/>
            <a:chOff x="0" y="0"/>
            <a:chExt cx="6350000" cy="63500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E2A9F1"/>
            </a:solidFill>
          </p:spPr>
        </p:sp>
      </p:grpSp>
      <p:sp>
        <p:nvSpPr>
          <p:cNvPr id="14" name="Freeform 14"/>
          <p:cNvSpPr/>
          <p:nvPr/>
        </p:nvSpPr>
        <p:spPr>
          <a:xfrm>
            <a:off x="110081" y="4130418"/>
            <a:ext cx="8711927" cy="4497786"/>
          </a:xfrm>
          <a:custGeom>
            <a:avLst/>
            <a:gdLst/>
            <a:ahLst/>
            <a:cxnLst/>
            <a:rect l="l" t="t" r="r" b="b"/>
            <a:pathLst>
              <a:path w="8711927" h="4497786">
                <a:moveTo>
                  <a:pt x="0" y="0"/>
                </a:moveTo>
                <a:lnTo>
                  <a:pt x="8711927" y="0"/>
                </a:lnTo>
                <a:lnTo>
                  <a:pt x="8711927" y="4497786"/>
                </a:lnTo>
                <a:lnTo>
                  <a:pt x="0" y="449778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9011663" y="4130418"/>
            <a:ext cx="9007186" cy="4473768"/>
          </a:xfrm>
          <a:custGeom>
            <a:avLst/>
            <a:gdLst/>
            <a:ahLst/>
            <a:cxnLst/>
            <a:rect l="l" t="t" r="r" b="b"/>
            <a:pathLst>
              <a:path w="9007186" h="4473768">
                <a:moveTo>
                  <a:pt x="0" y="0"/>
                </a:moveTo>
                <a:lnTo>
                  <a:pt x="9007185" y="0"/>
                </a:lnTo>
                <a:lnTo>
                  <a:pt x="9007185" y="4473768"/>
                </a:lnTo>
                <a:lnTo>
                  <a:pt x="0" y="447376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311898" y="204366"/>
            <a:ext cx="16612272" cy="11810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900" b="1">
                <a:solidFill>
                  <a:srgbClr val="000000"/>
                </a:solidFill>
                <a:latin typeface="TS Qamus Bold"/>
                <a:ea typeface="TS Qamus Bold"/>
                <a:cs typeface="TS Qamus Bold"/>
                <a:sym typeface="TS Qamus Bold"/>
              </a:rPr>
              <a:t>Mission 3 - Un Système "Actif" (Sécurité &amp; Triggers)</a:t>
            </a:r>
          </a:p>
          <a:p>
            <a:pPr marL="0" lvl="0" indent="0" algn="ctr">
              <a:lnSpc>
                <a:spcPts val="4680"/>
              </a:lnSpc>
              <a:spcBef>
                <a:spcPct val="0"/>
              </a:spcBef>
            </a:pPr>
            <a:endParaRPr lang="en-US" sz="3900" b="1">
              <a:solidFill>
                <a:srgbClr val="000000"/>
              </a:solidFill>
              <a:latin typeface="TS Qamus Bold"/>
              <a:ea typeface="TS Qamus Bold"/>
              <a:cs typeface="TS Qamus Bold"/>
              <a:sym typeface="TS Qamus Bold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15525450" y="9811548"/>
            <a:ext cx="1829424" cy="323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 i="1">
                <a:solidFill>
                  <a:srgbClr val="000000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Via excalidraw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495132" y="1819870"/>
            <a:ext cx="5051891" cy="12987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L'Interrupteur de Sécurité :</a:t>
            </a:r>
          </a:p>
          <a:p>
            <a:pPr algn="l">
              <a:lnSpc>
                <a:spcPts val="3499"/>
              </a:lnSpc>
            </a:pPr>
            <a:endParaRPr lang="en-US" sz="2499" b="1">
              <a:solidFill>
                <a:srgbClr val="000000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  <a:p>
            <a:pPr algn="l">
              <a:lnSpc>
                <a:spcPts val="3499"/>
              </a:lnSpc>
              <a:spcBef>
                <a:spcPct val="0"/>
              </a:spcBef>
            </a:pPr>
            <a:endParaRPr lang="en-US" sz="2499" b="1">
              <a:solidFill>
                <a:srgbClr val="000000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1495132" y="3155397"/>
            <a:ext cx="11550006" cy="4223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Les 4 Gardiens (Triggers) :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011663" y="1001181"/>
            <a:ext cx="264674" cy="264674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B6E50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 rot="1195273">
            <a:off x="11479713" y="6529632"/>
            <a:ext cx="8888398" cy="7514736"/>
          </a:xfrm>
          <a:custGeom>
            <a:avLst/>
            <a:gdLst/>
            <a:ahLst/>
            <a:cxnLst/>
            <a:rect l="l" t="t" r="r" b="b"/>
            <a:pathLst>
              <a:path w="8888398" h="7514736">
                <a:moveTo>
                  <a:pt x="0" y="0"/>
                </a:moveTo>
                <a:lnTo>
                  <a:pt x="8888398" y="0"/>
                </a:lnTo>
                <a:lnTo>
                  <a:pt x="8888398" y="7514736"/>
                </a:lnTo>
                <a:lnTo>
                  <a:pt x="0" y="751473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8470115">
            <a:off x="17253124" y="7683832"/>
            <a:ext cx="4495479" cy="3587985"/>
          </a:xfrm>
          <a:custGeom>
            <a:avLst/>
            <a:gdLst/>
            <a:ahLst/>
            <a:cxnLst/>
            <a:rect l="l" t="t" r="r" b="b"/>
            <a:pathLst>
              <a:path w="4495479" h="3587985">
                <a:moveTo>
                  <a:pt x="0" y="0"/>
                </a:moveTo>
                <a:lnTo>
                  <a:pt x="4495479" y="0"/>
                </a:lnTo>
                <a:lnTo>
                  <a:pt x="4495479" y="3587985"/>
                </a:lnTo>
                <a:lnTo>
                  <a:pt x="0" y="358798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599100" y="1265855"/>
            <a:ext cx="525999" cy="525999"/>
            <a:chOff x="0" y="0"/>
            <a:chExt cx="6350000" cy="63500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4F4F8C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16924170" y="204366"/>
            <a:ext cx="1144250" cy="1144250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155617" y="0"/>
                  </a:moveTo>
                  <a:lnTo>
                    <a:pt x="657183" y="0"/>
                  </a:lnTo>
                  <a:cubicBezTo>
                    <a:pt x="743128" y="0"/>
                    <a:pt x="812800" y="69672"/>
                    <a:pt x="812800" y="155617"/>
                  </a:cubicBezTo>
                  <a:lnTo>
                    <a:pt x="812800" y="657183"/>
                  </a:lnTo>
                  <a:cubicBezTo>
                    <a:pt x="812800" y="743128"/>
                    <a:pt x="743128" y="812800"/>
                    <a:pt x="657183" y="812800"/>
                  </a:cubicBezTo>
                  <a:lnTo>
                    <a:pt x="155617" y="812800"/>
                  </a:lnTo>
                  <a:cubicBezTo>
                    <a:pt x="69672" y="812800"/>
                    <a:pt x="0" y="743128"/>
                    <a:pt x="0" y="657183"/>
                  </a:cubicBezTo>
                  <a:lnTo>
                    <a:pt x="0" y="155617"/>
                  </a:lnTo>
                  <a:cubicBezTo>
                    <a:pt x="0" y="69672"/>
                    <a:pt x="69672" y="0"/>
                    <a:pt x="155617" y="0"/>
                  </a:cubicBezTo>
                  <a:close/>
                </a:path>
              </a:pathLst>
            </a:custGeom>
            <a:blipFill>
              <a:blip r:embed="rId5"/>
              <a:stretch>
                <a:fillRect l="-74960" t="-12657" r="-80133" b="-30195"/>
              </a:stretch>
            </a:blipFill>
          </p:spPr>
        </p:sp>
      </p:grpSp>
      <p:sp>
        <p:nvSpPr>
          <p:cNvPr id="12" name="Freeform 12"/>
          <p:cNvSpPr/>
          <p:nvPr/>
        </p:nvSpPr>
        <p:spPr>
          <a:xfrm>
            <a:off x="2801339" y="8017895"/>
            <a:ext cx="10001286" cy="1946559"/>
          </a:xfrm>
          <a:custGeom>
            <a:avLst/>
            <a:gdLst/>
            <a:ahLst/>
            <a:cxnLst/>
            <a:rect l="l" t="t" r="r" b="b"/>
            <a:pathLst>
              <a:path w="10001286" h="1946559">
                <a:moveTo>
                  <a:pt x="0" y="0"/>
                </a:moveTo>
                <a:lnTo>
                  <a:pt x="10001286" y="0"/>
                </a:lnTo>
                <a:lnTo>
                  <a:pt x="10001286" y="1946559"/>
                </a:lnTo>
                <a:lnTo>
                  <a:pt x="0" y="194655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311898" y="204366"/>
            <a:ext cx="16612272" cy="11810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900" b="1">
                <a:solidFill>
                  <a:srgbClr val="000000"/>
                </a:solidFill>
                <a:latin typeface="TS Qamus Bold"/>
                <a:ea typeface="TS Qamus Bold"/>
                <a:cs typeface="TS Qamus Bold"/>
                <a:sym typeface="TS Qamus Bold"/>
              </a:rPr>
              <a:t>Mission 3 - Conformité RGPD &amp; Dictionnaire</a:t>
            </a:r>
          </a:p>
          <a:p>
            <a:pPr marL="0" lvl="0" indent="0" algn="ctr">
              <a:lnSpc>
                <a:spcPts val="4680"/>
              </a:lnSpc>
              <a:spcBef>
                <a:spcPct val="0"/>
              </a:spcBef>
            </a:pPr>
            <a:endParaRPr lang="en-US" sz="3900" b="1">
              <a:solidFill>
                <a:srgbClr val="000000"/>
              </a:solidFill>
              <a:latin typeface="TS Qamus Bold"/>
              <a:ea typeface="TS Qamus Bold"/>
              <a:cs typeface="TS Qamus Bold"/>
              <a:sym typeface="TS Qamus Bold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319853" y="1293871"/>
            <a:ext cx="6421914" cy="12987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Le Dictionnaire de Données (Aperçu)</a:t>
            </a:r>
          </a:p>
          <a:p>
            <a:pPr algn="l">
              <a:lnSpc>
                <a:spcPts val="3499"/>
              </a:lnSpc>
            </a:pPr>
            <a:endParaRPr lang="en-US" sz="2499" b="1">
              <a:solidFill>
                <a:srgbClr val="000000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  <a:p>
            <a:pPr algn="l">
              <a:lnSpc>
                <a:spcPts val="3499"/>
              </a:lnSpc>
              <a:spcBef>
                <a:spcPct val="0"/>
              </a:spcBef>
            </a:pPr>
            <a:endParaRPr lang="en-US" sz="2499" b="1">
              <a:solidFill>
                <a:srgbClr val="000000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247162" y="7455818"/>
            <a:ext cx="4612827" cy="22147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Blindage :</a:t>
            </a:r>
          </a:p>
          <a:p>
            <a:pPr algn="ctr">
              <a:lnSpc>
                <a:spcPts val="3499"/>
              </a:lnSpc>
              <a:spcBef>
                <a:spcPct val="0"/>
              </a:spcBef>
            </a:pPr>
            <a:endParaRPr lang="en-US" sz="2499" b="1" dirty="0">
              <a:solidFill>
                <a:srgbClr val="000000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  <a:p>
            <a:pPr algn="ctr">
              <a:lnSpc>
                <a:spcPts val="3499"/>
              </a:lnSpc>
              <a:spcBef>
                <a:spcPct val="0"/>
              </a:spcBef>
            </a:pPr>
            <a:endParaRPr lang="en-US" sz="2499" b="1" dirty="0">
              <a:solidFill>
                <a:srgbClr val="000000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  <a:p>
            <a:pPr algn="ctr">
              <a:lnSpc>
                <a:spcPts val="3499"/>
              </a:lnSpc>
              <a:spcBef>
                <a:spcPct val="0"/>
              </a:spcBef>
            </a:pPr>
            <a:endParaRPr lang="en-US" sz="2499" b="1" dirty="0">
              <a:solidFill>
                <a:srgbClr val="000000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  <a:p>
            <a:pPr algn="ctr">
              <a:lnSpc>
                <a:spcPts val="3499"/>
              </a:lnSpc>
              <a:spcBef>
                <a:spcPct val="0"/>
              </a:spcBef>
            </a:pPr>
            <a:endParaRPr lang="en-US" sz="2499" b="1" dirty="0">
              <a:solidFill>
                <a:srgbClr val="000000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2370303" y="6123851"/>
            <a:ext cx="3125226" cy="4223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Exemple du rendu : </a:t>
            </a:r>
          </a:p>
        </p:txBody>
      </p:sp>
      <p:graphicFrame>
        <p:nvGraphicFramePr>
          <p:cNvPr id="18" name="Tableau 17">
            <a:extLst>
              <a:ext uri="{FF2B5EF4-FFF2-40B4-BE49-F238E27FC236}">
                <a16:creationId xmlns:a16="http://schemas.microsoft.com/office/drawing/2014/main" id="{197A0131-BB72-25F8-82BD-C3C7E75097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7174103"/>
              </p:ext>
            </p:extLst>
          </p:nvPr>
        </p:nvGraphicFramePr>
        <p:xfrm>
          <a:off x="4495799" y="3080130"/>
          <a:ext cx="6951160" cy="2374859"/>
        </p:xfrm>
        <a:graphic>
          <a:graphicData uri="http://schemas.openxmlformats.org/drawingml/2006/table">
            <a:tbl>
              <a:tblPr/>
              <a:tblGrid>
                <a:gridCol w="1737790">
                  <a:extLst>
                    <a:ext uri="{9D8B030D-6E8A-4147-A177-3AD203B41FA5}">
                      <a16:colId xmlns:a16="http://schemas.microsoft.com/office/drawing/2014/main" val="2801888252"/>
                    </a:ext>
                  </a:extLst>
                </a:gridCol>
                <a:gridCol w="1737790">
                  <a:extLst>
                    <a:ext uri="{9D8B030D-6E8A-4147-A177-3AD203B41FA5}">
                      <a16:colId xmlns:a16="http://schemas.microsoft.com/office/drawing/2014/main" val="1675803667"/>
                    </a:ext>
                  </a:extLst>
                </a:gridCol>
                <a:gridCol w="1737790">
                  <a:extLst>
                    <a:ext uri="{9D8B030D-6E8A-4147-A177-3AD203B41FA5}">
                      <a16:colId xmlns:a16="http://schemas.microsoft.com/office/drawing/2014/main" val="1296388194"/>
                    </a:ext>
                  </a:extLst>
                </a:gridCol>
                <a:gridCol w="1737790">
                  <a:extLst>
                    <a:ext uri="{9D8B030D-6E8A-4147-A177-3AD203B41FA5}">
                      <a16:colId xmlns:a16="http://schemas.microsoft.com/office/drawing/2014/main" val="957515008"/>
                    </a:ext>
                  </a:extLst>
                </a:gridCol>
              </a:tblGrid>
              <a:tr h="7788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b="1" dirty="0">
                          <a:effectLst/>
                        </a:rPr>
                        <a:t>Colonne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1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2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b="1">
                          <a:effectLst/>
                        </a:rPr>
                        <a:t>Type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1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2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b="1">
                          <a:effectLst/>
                        </a:rPr>
                        <a:t>Description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1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2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b="1">
                          <a:effectLst/>
                        </a:rPr>
                        <a:t>Sécurité RGPD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1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2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7446217"/>
                  </a:ext>
                </a:extLst>
              </a:tr>
              <a:tr h="7788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>
                          <a:effectLst/>
                        </a:rPr>
                        <a:t>hash_mdp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1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dirty="0">
                          <a:effectLst/>
                        </a:rPr>
                        <a:t>TEXT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1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>
                          <a:effectLst/>
                        </a:rPr>
                        <a:t>Mot de passe (Hash)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1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b="1">
                          <a:effectLst/>
                        </a:rPr>
                        <a:t>Anonymisation obligatoire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1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9602573"/>
                  </a:ext>
                </a:extLst>
              </a:tr>
              <a:tr h="8171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>
                          <a:effectLst/>
                        </a:rPr>
                        <a:t>mail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1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>
                          <a:effectLst/>
                        </a:rPr>
                        <a:t>TEXT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1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>
                          <a:effectLst/>
                        </a:rPr>
                        <a:t>Email Employé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1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b="1" dirty="0" err="1">
                          <a:effectLst/>
                        </a:rPr>
                        <a:t>Pseudonymisation</a:t>
                      </a:r>
                      <a:r>
                        <a:rPr lang="fr-FR" b="1" dirty="0">
                          <a:effectLst/>
                        </a:rPr>
                        <a:t> active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1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0359840"/>
                  </a:ext>
                </a:extLst>
              </a:tr>
            </a:tbl>
          </a:graphicData>
        </a:graphic>
      </p:graphicFrame>
      <p:graphicFrame>
        <p:nvGraphicFramePr>
          <p:cNvPr id="19" name="Tableau 18">
            <a:extLst>
              <a:ext uri="{FF2B5EF4-FFF2-40B4-BE49-F238E27FC236}">
                <a16:creationId xmlns:a16="http://schemas.microsoft.com/office/drawing/2014/main" id="{AA793356-55EB-81EE-8ED7-7AA5C023FF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1427097"/>
              </p:ext>
            </p:extLst>
          </p:nvPr>
        </p:nvGraphicFramePr>
        <p:xfrm>
          <a:off x="5867400" y="5942475"/>
          <a:ext cx="9067800" cy="1513343"/>
        </p:xfrm>
        <a:graphic>
          <a:graphicData uri="http://schemas.openxmlformats.org/drawingml/2006/table">
            <a:tbl>
              <a:tblPr/>
              <a:tblGrid>
                <a:gridCol w="1905000">
                  <a:extLst>
                    <a:ext uri="{9D8B030D-6E8A-4147-A177-3AD203B41FA5}">
                      <a16:colId xmlns:a16="http://schemas.microsoft.com/office/drawing/2014/main" val="215554001"/>
                    </a:ext>
                  </a:extLst>
                </a:gridCol>
                <a:gridCol w="2895600">
                  <a:extLst>
                    <a:ext uri="{9D8B030D-6E8A-4147-A177-3AD203B41FA5}">
                      <a16:colId xmlns:a16="http://schemas.microsoft.com/office/drawing/2014/main" val="2201171229"/>
                    </a:ext>
                  </a:extLst>
                </a:gridCol>
                <a:gridCol w="4267200">
                  <a:extLst>
                    <a:ext uri="{9D8B030D-6E8A-4147-A177-3AD203B41FA5}">
                      <a16:colId xmlns:a16="http://schemas.microsoft.com/office/drawing/2014/main" val="3456527268"/>
                    </a:ext>
                  </a:extLst>
                </a:gridCol>
              </a:tblGrid>
              <a:tr h="3841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b="1" dirty="0">
                          <a:effectLst/>
                        </a:rPr>
                        <a:t>Type de donnée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b="1">
                          <a:effectLst/>
                        </a:rPr>
                        <a:t>Avant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b="1">
                          <a:effectLst/>
                        </a:rPr>
                        <a:t>Après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2553180"/>
                  </a:ext>
                </a:extLst>
              </a:tr>
              <a:tr h="4570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b="1">
                          <a:effectLst/>
                        </a:rPr>
                        <a:t>Email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u="sng">
                          <a:solidFill>
                            <a:srgbClr val="1A62FF"/>
                          </a:solidFill>
                          <a:effectLst/>
                          <a:hlinkClick r:id="rId7"/>
                        </a:rPr>
                        <a:t>jean.dupond@gmail.com</a:t>
                      </a:r>
                      <a:endParaRPr lang="fr-FR" u="sng">
                        <a:solidFill>
                          <a:srgbClr val="1A62FF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u="sng">
                          <a:solidFill>
                            <a:srgbClr val="1A62FF"/>
                          </a:solidFill>
                          <a:effectLst/>
                          <a:hlinkClick r:id="rId8"/>
                        </a:rPr>
                        <a:t>anonyme_842@ssmarket.fr</a:t>
                      </a:r>
                      <a:endParaRPr lang="fr-FR" u="sng">
                        <a:solidFill>
                          <a:srgbClr val="1A62FF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7927761"/>
                  </a:ext>
                </a:extLst>
              </a:tr>
              <a:tr h="6721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b="1">
                          <a:effectLst/>
                        </a:rPr>
                        <a:t>Mot de passe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dirty="0">
                          <a:effectLst/>
                        </a:rPr>
                        <a:t>Mdp_Secret_123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dirty="0">
                          <a:effectLst/>
                        </a:rPr>
                        <a:t>e3b0c442... (Hash SHA-256 par exemple)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415865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106381" y="1083941"/>
            <a:ext cx="264674" cy="264674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B6E50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 rot="1195273">
            <a:off x="11479713" y="6529632"/>
            <a:ext cx="8888398" cy="7514736"/>
          </a:xfrm>
          <a:custGeom>
            <a:avLst/>
            <a:gdLst/>
            <a:ahLst/>
            <a:cxnLst/>
            <a:rect l="l" t="t" r="r" b="b"/>
            <a:pathLst>
              <a:path w="8888398" h="7514736">
                <a:moveTo>
                  <a:pt x="0" y="0"/>
                </a:moveTo>
                <a:lnTo>
                  <a:pt x="8888398" y="0"/>
                </a:lnTo>
                <a:lnTo>
                  <a:pt x="8888398" y="7514736"/>
                </a:lnTo>
                <a:lnTo>
                  <a:pt x="0" y="751473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8470115">
            <a:off x="17253124" y="7683832"/>
            <a:ext cx="4495479" cy="3587985"/>
          </a:xfrm>
          <a:custGeom>
            <a:avLst/>
            <a:gdLst/>
            <a:ahLst/>
            <a:cxnLst/>
            <a:rect l="l" t="t" r="r" b="b"/>
            <a:pathLst>
              <a:path w="4495479" h="3587985">
                <a:moveTo>
                  <a:pt x="0" y="0"/>
                </a:moveTo>
                <a:lnTo>
                  <a:pt x="4495479" y="0"/>
                </a:lnTo>
                <a:lnTo>
                  <a:pt x="4495479" y="3587985"/>
                </a:lnTo>
                <a:lnTo>
                  <a:pt x="0" y="358798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281767" y="2950490"/>
            <a:ext cx="383740" cy="383740"/>
            <a:chOff x="0" y="0"/>
            <a:chExt cx="6350000" cy="63500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E1E2E5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16924170" y="204366"/>
            <a:ext cx="1144250" cy="1144250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155617" y="0"/>
                  </a:moveTo>
                  <a:lnTo>
                    <a:pt x="657183" y="0"/>
                  </a:lnTo>
                  <a:cubicBezTo>
                    <a:pt x="743128" y="0"/>
                    <a:pt x="812800" y="69672"/>
                    <a:pt x="812800" y="155617"/>
                  </a:cubicBezTo>
                  <a:lnTo>
                    <a:pt x="812800" y="657183"/>
                  </a:lnTo>
                  <a:cubicBezTo>
                    <a:pt x="812800" y="743128"/>
                    <a:pt x="743128" y="812800"/>
                    <a:pt x="657183" y="812800"/>
                  </a:cubicBezTo>
                  <a:lnTo>
                    <a:pt x="155617" y="812800"/>
                  </a:lnTo>
                  <a:cubicBezTo>
                    <a:pt x="69672" y="812800"/>
                    <a:pt x="0" y="743128"/>
                    <a:pt x="0" y="657183"/>
                  </a:cubicBezTo>
                  <a:lnTo>
                    <a:pt x="0" y="155617"/>
                  </a:lnTo>
                  <a:cubicBezTo>
                    <a:pt x="0" y="69672"/>
                    <a:pt x="69672" y="0"/>
                    <a:pt x="155617" y="0"/>
                  </a:cubicBezTo>
                  <a:close/>
                </a:path>
              </a:pathLst>
            </a:custGeom>
            <a:blipFill>
              <a:blip r:embed="rId5"/>
              <a:stretch>
                <a:fillRect l="-74960" t="-12657" r="-80133" b="-30195"/>
              </a:stretch>
            </a:blipFill>
          </p:spPr>
        </p:sp>
      </p:grpSp>
      <p:sp>
        <p:nvSpPr>
          <p:cNvPr id="11" name="TextBox 11"/>
          <p:cNvSpPr txBox="1"/>
          <p:nvPr/>
        </p:nvSpPr>
        <p:spPr>
          <a:xfrm>
            <a:off x="473637" y="438183"/>
            <a:ext cx="16339615" cy="5905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680"/>
              </a:lnSpc>
              <a:spcBef>
                <a:spcPct val="0"/>
              </a:spcBef>
            </a:pPr>
            <a:r>
              <a:rPr lang="en-US" sz="3900" b="1">
                <a:solidFill>
                  <a:srgbClr val="000000"/>
                </a:solidFill>
                <a:latin typeface="TS Qamus Bold"/>
                <a:ea typeface="TS Qamus Bold"/>
                <a:cs typeface="TS Qamus Bold"/>
                <a:sym typeface="TS Qamus Bold"/>
              </a:rPr>
              <a:t>Plan d'Action &amp; Recommandations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02768" y="2764028"/>
            <a:ext cx="7468287" cy="54730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68"/>
              </a:lnSpc>
            </a:pPr>
            <a:r>
              <a:rPr lang="en-US" sz="2334" b="1" dirty="0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Outil</a:t>
            </a:r>
            <a:r>
              <a:rPr lang="en-US" sz="2334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  <a:r>
              <a:rPr lang="en-US" sz="2334" b="1" dirty="0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Systématique</a:t>
            </a:r>
            <a:endParaRPr lang="en-US" sz="2334" b="1" dirty="0">
              <a:solidFill>
                <a:srgbClr val="000000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  <a:p>
            <a:pPr algn="l">
              <a:lnSpc>
                <a:spcPts val="3268"/>
              </a:lnSpc>
            </a:pPr>
            <a:r>
              <a:rPr lang="en-US" sz="2334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Fixer la </a:t>
            </a:r>
            <a:r>
              <a:rPr lang="en-US" sz="2334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colonne</a:t>
            </a:r>
            <a:r>
              <a:rPr lang="en-US" sz="2334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334" b="1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date_insertion</a:t>
            </a:r>
            <a:r>
              <a:rPr lang="en-US" sz="2334" b="1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334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(</a:t>
            </a:r>
            <a:r>
              <a:rPr lang="en-US" sz="2334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séparée</a:t>
            </a:r>
            <a:r>
              <a:rPr lang="en-US" sz="2334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de </a:t>
            </a:r>
            <a:r>
              <a:rPr lang="en-US" sz="2334" b="1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date_achat</a:t>
            </a:r>
            <a:r>
              <a:rPr lang="en-US" sz="2334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).</a:t>
            </a:r>
          </a:p>
          <a:p>
            <a:pPr algn="l">
              <a:lnSpc>
                <a:spcPts val="3268"/>
              </a:lnSpc>
            </a:pPr>
            <a:endParaRPr lang="en-US" sz="2334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l">
              <a:lnSpc>
                <a:spcPts val="3268"/>
              </a:lnSpc>
            </a:pPr>
            <a:r>
              <a:rPr lang="en-US" sz="2334" b="1" dirty="0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Historisation</a:t>
            </a:r>
            <a:r>
              <a:rPr lang="en-US" sz="2334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SCD2 </a:t>
            </a:r>
          </a:p>
          <a:p>
            <a:pPr algn="l">
              <a:lnSpc>
                <a:spcPts val="3268"/>
              </a:lnSpc>
            </a:pPr>
            <a:r>
              <a:rPr lang="en-US" sz="2334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Mise </a:t>
            </a:r>
            <a:r>
              <a:rPr lang="en-US" sz="2334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en</a:t>
            </a:r>
            <a:r>
              <a:rPr lang="en-US" sz="2334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prod de la table </a:t>
            </a:r>
            <a:r>
              <a:rPr lang="en-US" sz="2334" b="1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historique_prix</a:t>
            </a:r>
            <a:r>
              <a:rPr lang="en-US" sz="2334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</a:p>
          <a:p>
            <a:pPr algn="l">
              <a:lnSpc>
                <a:spcPts val="3268"/>
              </a:lnSpc>
            </a:pPr>
            <a:endParaRPr lang="en-US" sz="2334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l">
              <a:lnSpc>
                <a:spcPts val="3268"/>
              </a:lnSpc>
            </a:pPr>
            <a:r>
              <a:rPr lang="en-US" sz="2334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Supervision Active</a:t>
            </a:r>
          </a:p>
          <a:p>
            <a:pPr algn="l">
              <a:lnSpc>
                <a:spcPts val="3268"/>
              </a:lnSpc>
            </a:pPr>
            <a:r>
              <a:rPr lang="en-US" sz="2334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Script </a:t>
            </a:r>
            <a:r>
              <a:rPr lang="en-US" sz="2334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hebdomadaire</a:t>
            </a:r>
            <a:r>
              <a:rPr lang="en-US" sz="2334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anti-</a:t>
            </a:r>
            <a:r>
              <a:rPr lang="en-US" sz="2334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écrasements</a:t>
            </a:r>
            <a:r>
              <a:rPr lang="en-US" sz="2334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via table Logs.</a:t>
            </a:r>
          </a:p>
          <a:p>
            <a:pPr algn="l">
              <a:lnSpc>
                <a:spcPts val="3268"/>
              </a:lnSpc>
            </a:pPr>
            <a:endParaRPr lang="en-US" sz="2334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l">
              <a:lnSpc>
                <a:spcPts val="3268"/>
              </a:lnSpc>
            </a:pPr>
            <a:r>
              <a:rPr lang="en-US" sz="2334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Alerting BI</a:t>
            </a:r>
          </a:p>
          <a:p>
            <a:pPr algn="l">
              <a:lnSpc>
                <a:spcPts val="3268"/>
              </a:lnSpc>
            </a:pPr>
            <a:r>
              <a:rPr lang="en-US" sz="2334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Seuil</a:t>
            </a:r>
            <a:r>
              <a:rPr lang="en-US" sz="2334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334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déclencheur</a:t>
            </a:r>
            <a:r>
              <a:rPr lang="en-US" sz="2334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334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PowerBI</a:t>
            </a:r>
            <a:r>
              <a:rPr lang="en-US" sz="2334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sur les variations </a:t>
            </a:r>
            <a:r>
              <a:rPr lang="en-US" sz="2334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asynchrones</a:t>
            </a:r>
            <a:r>
              <a:rPr lang="en-US" sz="2334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(&gt; 10%).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281767" y="4091661"/>
            <a:ext cx="383740" cy="383740"/>
            <a:chOff x="0" y="0"/>
            <a:chExt cx="6350000" cy="63500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3131"/>
            </a:solidFill>
          </p:spPr>
        </p:sp>
      </p:grpSp>
      <p:grpSp>
        <p:nvGrpSpPr>
          <p:cNvPr id="15" name="Group 15"/>
          <p:cNvGrpSpPr/>
          <p:nvPr/>
        </p:nvGrpSpPr>
        <p:grpSpPr>
          <a:xfrm>
            <a:off x="281767" y="5231850"/>
            <a:ext cx="383740" cy="383740"/>
            <a:chOff x="0" y="0"/>
            <a:chExt cx="6350000" cy="63500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64A39F"/>
            </a:solidFill>
          </p:spPr>
        </p:sp>
      </p:grpSp>
      <p:grpSp>
        <p:nvGrpSpPr>
          <p:cNvPr id="17" name="Group 17"/>
          <p:cNvGrpSpPr/>
          <p:nvPr/>
        </p:nvGrpSpPr>
        <p:grpSpPr>
          <a:xfrm>
            <a:off x="281767" y="6525897"/>
            <a:ext cx="383740" cy="383740"/>
            <a:chOff x="0" y="0"/>
            <a:chExt cx="6350000" cy="63500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DA904C"/>
            </a:solidFill>
          </p:spPr>
        </p:sp>
      </p:grpSp>
      <p:sp>
        <p:nvSpPr>
          <p:cNvPr id="19" name="Freeform 19"/>
          <p:cNvSpPr/>
          <p:nvPr/>
        </p:nvSpPr>
        <p:spPr>
          <a:xfrm>
            <a:off x="8554682" y="2530552"/>
            <a:ext cx="8704618" cy="5832094"/>
          </a:xfrm>
          <a:custGeom>
            <a:avLst/>
            <a:gdLst/>
            <a:ahLst/>
            <a:cxnLst/>
            <a:rect l="l" t="t" r="r" b="b"/>
            <a:pathLst>
              <a:path w="8704618" h="5832094">
                <a:moveTo>
                  <a:pt x="0" y="0"/>
                </a:moveTo>
                <a:lnTo>
                  <a:pt x="8704618" y="0"/>
                </a:lnTo>
                <a:lnTo>
                  <a:pt x="8704618" y="5832094"/>
                </a:lnTo>
                <a:lnTo>
                  <a:pt x="0" y="583209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011663" y="685767"/>
            <a:ext cx="264674" cy="264674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B6E50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 rot="1195273">
            <a:off x="11479713" y="6529632"/>
            <a:ext cx="8888398" cy="7514736"/>
          </a:xfrm>
          <a:custGeom>
            <a:avLst/>
            <a:gdLst/>
            <a:ahLst/>
            <a:cxnLst/>
            <a:rect l="l" t="t" r="r" b="b"/>
            <a:pathLst>
              <a:path w="8888398" h="7514736">
                <a:moveTo>
                  <a:pt x="0" y="0"/>
                </a:moveTo>
                <a:lnTo>
                  <a:pt x="8888398" y="0"/>
                </a:lnTo>
                <a:lnTo>
                  <a:pt x="8888398" y="7514736"/>
                </a:lnTo>
                <a:lnTo>
                  <a:pt x="0" y="751473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8470115">
            <a:off x="17253124" y="7683832"/>
            <a:ext cx="4495479" cy="3587985"/>
          </a:xfrm>
          <a:custGeom>
            <a:avLst/>
            <a:gdLst/>
            <a:ahLst/>
            <a:cxnLst/>
            <a:rect l="l" t="t" r="r" b="b"/>
            <a:pathLst>
              <a:path w="4495479" h="3587985">
                <a:moveTo>
                  <a:pt x="0" y="0"/>
                </a:moveTo>
                <a:lnTo>
                  <a:pt x="4495479" y="0"/>
                </a:lnTo>
                <a:lnTo>
                  <a:pt x="4495479" y="3587985"/>
                </a:lnTo>
                <a:lnTo>
                  <a:pt x="0" y="358798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72305" y="387750"/>
            <a:ext cx="525999" cy="525999"/>
            <a:chOff x="0" y="0"/>
            <a:chExt cx="6350000" cy="63500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4F4F8C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16924170" y="204366"/>
            <a:ext cx="1144250" cy="1144250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155617" y="0"/>
                  </a:moveTo>
                  <a:lnTo>
                    <a:pt x="657183" y="0"/>
                  </a:lnTo>
                  <a:cubicBezTo>
                    <a:pt x="743128" y="0"/>
                    <a:pt x="812800" y="69672"/>
                    <a:pt x="812800" y="155617"/>
                  </a:cubicBezTo>
                  <a:lnTo>
                    <a:pt x="812800" y="657183"/>
                  </a:lnTo>
                  <a:cubicBezTo>
                    <a:pt x="812800" y="743128"/>
                    <a:pt x="743128" y="812800"/>
                    <a:pt x="657183" y="812800"/>
                  </a:cubicBezTo>
                  <a:lnTo>
                    <a:pt x="155617" y="812800"/>
                  </a:lnTo>
                  <a:cubicBezTo>
                    <a:pt x="69672" y="812800"/>
                    <a:pt x="0" y="743128"/>
                    <a:pt x="0" y="657183"/>
                  </a:cubicBezTo>
                  <a:lnTo>
                    <a:pt x="0" y="155617"/>
                  </a:lnTo>
                  <a:cubicBezTo>
                    <a:pt x="0" y="69672"/>
                    <a:pt x="69672" y="0"/>
                    <a:pt x="155617" y="0"/>
                  </a:cubicBezTo>
                  <a:close/>
                </a:path>
              </a:pathLst>
            </a:custGeom>
            <a:blipFill>
              <a:blip r:embed="rId5"/>
              <a:stretch>
                <a:fillRect l="-74960" t="-12657" r="-80133" b="-30195"/>
              </a:stretch>
            </a:blipFill>
          </p:spPr>
        </p:sp>
      </p:grpSp>
      <p:sp>
        <p:nvSpPr>
          <p:cNvPr id="13" name="TextBox 13"/>
          <p:cNvSpPr txBox="1"/>
          <p:nvPr/>
        </p:nvSpPr>
        <p:spPr>
          <a:xfrm>
            <a:off x="1768932" y="-19050"/>
            <a:ext cx="15014809" cy="13905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00"/>
              </a:lnSpc>
            </a:pPr>
            <a:r>
              <a:rPr lang="en-US" sz="4500" b="1">
                <a:solidFill>
                  <a:srgbClr val="000000"/>
                </a:solidFill>
                <a:latin typeface="TS Qamus Bold"/>
                <a:ea typeface="TS Qamus Bold"/>
                <a:cs typeface="TS Qamus Bold"/>
                <a:sym typeface="TS Qamus Bold"/>
              </a:rPr>
              <a:t>Annexes - Dictionnaire de Données Complet</a:t>
            </a:r>
          </a:p>
          <a:p>
            <a:pPr marL="0" lvl="0" indent="0" algn="ctr">
              <a:lnSpc>
                <a:spcPts val="5400"/>
              </a:lnSpc>
              <a:spcBef>
                <a:spcPct val="0"/>
              </a:spcBef>
            </a:pPr>
            <a:endParaRPr lang="en-US" sz="4500" b="1">
              <a:solidFill>
                <a:srgbClr val="000000"/>
              </a:solidFill>
              <a:latin typeface="TS Qamus Bold"/>
              <a:ea typeface="TS Qamus Bold"/>
              <a:cs typeface="TS Qamus Bold"/>
              <a:sym typeface="TS Qamus Bold"/>
            </a:endParaRPr>
          </a:p>
        </p:txBody>
      </p:sp>
      <p:grpSp>
        <p:nvGrpSpPr>
          <p:cNvPr id="14" name="Group 14"/>
          <p:cNvGrpSpPr/>
          <p:nvPr/>
        </p:nvGrpSpPr>
        <p:grpSpPr>
          <a:xfrm>
            <a:off x="0" y="5843622"/>
            <a:ext cx="525999" cy="525999"/>
            <a:chOff x="0" y="0"/>
            <a:chExt cx="6350000" cy="63500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4F4F8C"/>
            </a:solidFill>
          </p:spPr>
        </p:sp>
      </p:grpSp>
      <p:sp>
        <p:nvSpPr>
          <p:cNvPr id="16" name="TextBox 16"/>
          <p:cNvSpPr txBox="1"/>
          <p:nvPr/>
        </p:nvSpPr>
        <p:spPr>
          <a:xfrm>
            <a:off x="72305" y="1028049"/>
            <a:ext cx="5051891" cy="4223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 i="1">
                <a:solidFill>
                  <a:srgbClr val="000000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Table Fact_Ventes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2305" y="6467475"/>
            <a:ext cx="5051891" cy="8605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 i="1">
                <a:solidFill>
                  <a:srgbClr val="000000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Table Dim_Produits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endParaRPr lang="en-US" sz="2499" i="1">
              <a:solidFill>
                <a:srgbClr val="000000"/>
              </a:solidFill>
              <a:latin typeface="Open Sans Italics"/>
              <a:ea typeface="Open Sans Italics"/>
              <a:cs typeface="Open Sans Italics"/>
              <a:sym typeface="Open Sans Italics"/>
            </a:endParaRPr>
          </a:p>
        </p:txBody>
      </p:sp>
      <p:graphicFrame>
        <p:nvGraphicFramePr>
          <p:cNvPr id="18" name="Tableau 17">
            <a:extLst>
              <a:ext uri="{FF2B5EF4-FFF2-40B4-BE49-F238E27FC236}">
                <a16:creationId xmlns:a16="http://schemas.microsoft.com/office/drawing/2014/main" id="{3FFF45CA-E25A-FDB0-C054-F90ACE0D68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1090900"/>
              </p:ext>
            </p:extLst>
          </p:nvPr>
        </p:nvGraphicFramePr>
        <p:xfrm>
          <a:off x="2418450" y="1600201"/>
          <a:ext cx="12364350" cy="4525961"/>
        </p:xfrm>
        <a:graphic>
          <a:graphicData uri="http://schemas.openxmlformats.org/drawingml/2006/table">
            <a:tbl>
              <a:tblPr/>
              <a:tblGrid>
                <a:gridCol w="2534550">
                  <a:extLst>
                    <a:ext uri="{9D8B030D-6E8A-4147-A177-3AD203B41FA5}">
                      <a16:colId xmlns:a16="http://schemas.microsoft.com/office/drawing/2014/main" val="3933638130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3712281102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3435787986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897606933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619845185"/>
                    </a:ext>
                  </a:extLst>
                </a:gridCol>
              </a:tblGrid>
              <a:tr h="3624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500" b="1" dirty="0">
                          <a:effectLst/>
                        </a:rPr>
                        <a:t>Colonne</a:t>
                      </a:r>
                    </a:p>
                  </a:txBody>
                  <a:tcPr marL="47857" marR="47857" marT="23928" marB="2392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C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500" b="1">
                          <a:effectLst/>
                        </a:rPr>
                        <a:t>Type SQL</a:t>
                      </a:r>
                    </a:p>
                  </a:txBody>
                  <a:tcPr marL="47857" marR="47857" marT="23928" marB="2392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C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500" b="1">
                          <a:effectLst/>
                        </a:rPr>
                        <a:t>Description</a:t>
                      </a:r>
                    </a:p>
                  </a:txBody>
                  <a:tcPr marL="47857" marR="47857" marT="23928" marB="2392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C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500" b="1">
                          <a:effectLst/>
                        </a:rPr>
                        <a:t>Valeur Exemple</a:t>
                      </a:r>
                    </a:p>
                  </a:txBody>
                  <a:tcPr marL="47857" marR="47857" marT="23928" marB="2392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C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500" b="1">
                          <a:effectLst/>
                        </a:rPr>
                        <a:t>Contraintes / Anomalie</a:t>
                      </a:r>
                    </a:p>
                  </a:txBody>
                  <a:tcPr marL="47857" marR="47857" marT="23928" marB="2392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C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6899444"/>
                  </a:ext>
                </a:extLst>
              </a:tr>
              <a:tr h="6221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500">
                          <a:effectLst/>
                        </a:rPr>
                        <a:t>ID_BDD</a:t>
                      </a:r>
                    </a:p>
                  </a:txBody>
                  <a:tcPr marL="47857" marR="47857" marT="23928" marB="2392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500">
                          <a:effectLst/>
                        </a:rPr>
                        <a:t>TEXT</a:t>
                      </a:r>
                    </a:p>
                  </a:txBody>
                  <a:tcPr marL="47857" marR="47857" marT="23928" marB="2392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500">
                          <a:effectLst/>
                        </a:rPr>
                        <a:t>Identifiant unique technique de la ligne de vente.</a:t>
                      </a:r>
                    </a:p>
                  </a:txBody>
                  <a:tcPr marL="47857" marR="47857" marT="23928" marB="2392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500">
                          <a:effectLst/>
                        </a:rPr>
                        <a:t>V-00001</a:t>
                      </a:r>
                    </a:p>
                  </a:txBody>
                  <a:tcPr marL="47857" marR="47857" marT="23928" marB="2392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500">
                          <a:effectLst/>
                        </a:rPr>
                        <a:t>PK - Non null</a:t>
                      </a:r>
                    </a:p>
                  </a:txBody>
                  <a:tcPr marL="47857" marR="47857" marT="23928" marB="2392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1252988"/>
                  </a:ext>
                </a:extLst>
              </a:tr>
              <a:tr h="6221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500">
                          <a:effectLst/>
                        </a:rPr>
                        <a:t>CUSTOMER_ID</a:t>
                      </a:r>
                    </a:p>
                  </a:txBody>
                  <a:tcPr marL="47857" marR="47857" marT="23928" marB="2392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500">
                          <a:effectLst/>
                        </a:rPr>
                        <a:t>TEXT</a:t>
                      </a:r>
                    </a:p>
                  </a:txBody>
                  <a:tcPr marL="47857" marR="47857" marT="23928" marB="2392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500">
                          <a:effectLst/>
                        </a:rPr>
                        <a:t>Identifiant du client (Jointure avec Dim_Clients).</a:t>
                      </a:r>
                    </a:p>
                  </a:txBody>
                  <a:tcPr marL="47857" marR="47857" marT="23928" marB="2392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500">
                          <a:effectLst/>
                        </a:rPr>
                        <a:t>CUST-0042</a:t>
                      </a:r>
                    </a:p>
                  </a:txBody>
                  <a:tcPr marL="47857" marR="47857" marT="23928" marB="2392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500">
                          <a:effectLst/>
                        </a:rPr>
                        <a:t>FK → Dim_Clients</a:t>
                      </a:r>
                    </a:p>
                  </a:txBody>
                  <a:tcPr marL="47857" marR="47857" marT="23928" marB="2392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6434511"/>
                  </a:ext>
                </a:extLst>
              </a:tr>
              <a:tr h="6221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500">
                          <a:effectLst/>
                        </a:rPr>
                        <a:t>id_employe</a:t>
                      </a:r>
                    </a:p>
                  </a:txBody>
                  <a:tcPr marL="47857" marR="47857" marT="23928" marB="2392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500" dirty="0">
                          <a:effectLst/>
                        </a:rPr>
                        <a:t>TEXT</a:t>
                      </a:r>
                    </a:p>
                  </a:txBody>
                  <a:tcPr marL="47857" marR="47857" marT="23928" marB="2392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500">
                          <a:effectLst/>
                        </a:rPr>
                        <a:t>Identifiant de l'employé ayant encaissé la vente.</a:t>
                      </a:r>
                    </a:p>
                  </a:txBody>
                  <a:tcPr marL="47857" marR="47857" marT="23928" marB="2392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500">
                          <a:effectLst/>
                        </a:rPr>
                        <a:t>EMP_abc123</a:t>
                      </a:r>
                    </a:p>
                  </a:txBody>
                  <a:tcPr marL="47857" marR="47857" marT="23928" marB="2392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500">
                          <a:effectLst/>
                        </a:rPr>
                        <a:t>FK → Dim_Employes</a:t>
                      </a:r>
                    </a:p>
                  </a:txBody>
                  <a:tcPr marL="47857" marR="47857" marT="23928" marB="2392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7475341"/>
                  </a:ext>
                </a:extLst>
              </a:tr>
              <a:tr h="6221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500">
                          <a:effectLst/>
                        </a:rPr>
                        <a:t>EAN</a:t>
                      </a:r>
                    </a:p>
                  </a:txBody>
                  <a:tcPr marL="47857" marR="47857" marT="23928" marB="2392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500">
                          <a:effectLst/>
                        </a:rPr>
                        <a:t>INTEGER</a:t>
                      </a:r>
                    </a:p>
                  </a:txBody>
                  <a:tcPr marL="47857" marR="47857" marT="23928" marB="2392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500">
                          <a:effectLst/>
                        </a:rPr>
                        <a:t>Code barre EAN du produit (Jointure avec Dim_Produits).</a:t>
                      </a:r>
                    </a:p>
                  </a:txBody>
                  <a:tcPr marL="47857" marR="47857" marT="23928" marB="2392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500">
                          <a:effectLst/>
                        </a:rPr>
                        <a:t>3017620425035</a:t>
                      </a:r>
                    </a:p>
                  </a:txBody>
                  <a:tcPr marL="47857" marR="47857" marT="23928" marB="2392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500">
                          <a:effectLst/>
                        </a:rPr>
                        <a:t>FK → Dim_Produits</a:t>
                      </a:r>
                    </a:p>
                  </a:txBody>
                  <a:tcPr marL="47857" marR="47857" marT="23928" marB="2392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8160046"/>
                  </a:ext>
                </a:extLst>
              </a:tr>
              <a:tr h="9092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500">
                          <a:effectLst/>
                        </a:rPr>
                        <a:t>date_achat_excel</a:t>
                      </a:r>
                    </a:p>
                  </a:txBody>
                  <a:tcPr marL="47857" marR="47857" marT="23928" marB="2392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500">
                          <a:effectLst/>
                        </a:rPr>
                        <a:t>INTEGER</a:t>
                      </a:r>
                    </a:p>
                  </a:txBody>
                  <a:tcPr marL="47857" marR="47857" marT="23928" marB="2392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500">
                          <a:effectLst/>
                        </a:rPr>
                        <a:t>Date de la transaction au format sériel Excel (ex: 45518 = 14/08/2024).</a:t>
                      </a:r>
                    </a:p>
                  </a:txBody>
                  <a:tcPr marL="47857" marR="47857" marT="23928" marB="2392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500">
                          <a:effectLst/>
                        </a:rPr>
                        <a:t>45518</a:t>
                      </a:r>
                    </a:p>
                  </a:txBody>
                  <a:tcPr marL="47857" marR="47857" marT="23928" marB="2392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500">
                          <a:effectLst/>
                        </a:rPr>
                        <a:t>FK → Dim_Calendrier.date_excel</a:t>
                      </a:r>
                    </a:p>
                  </a:txBody>
                  <a:tcPr marL="47857" marR="47857" marT="23928" marB="2392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8928515"/>
                  </a:ext>
                </a:extLst>
              </a:tr>
              <a:tr h="7657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500">
                          <a:effectLst/>
                        </a:rPr>
                        <a:t>ID_ticket</a:t>
                      </a:r>
                    </a:p>
                  </a:txBody>
                  <a:tcPr marL="47857" marR="47857" marT="23928" marB="2392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500">
                          <a:effectLst/>
                        </a:rPr>
                        <a:t>TEXT</a:t>
                      </a:r>
                    </a:p>
                  </a:txBody>
                  <a:tcPr marL="47857" marR="47857" marT="23928" marB="2392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500">
                          <a:effectLst/>
                        </a:rPr>
                        <a:t>Identifiant du ticket de caisse. Regroupe plusieurs lignes ID_BDD.</a:t>
                      </a:r>
                    </a:p>
                  </a:txBody>
                  <a:tcPr marL="47857" marR="47857" marT="23928" marB="2392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500">
                          <a:effectLst/>
                        </a:rPr>
                        <a:t>TKT-20240814-001</a:t>
                      </a:r>
                    </a:p>
                  </a:txBody>
                  <a:tcPr marL="47857" marR="47857" marT="23928" marB="2392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500" dirty="0">
                          <a:effectLst/>
                        </a:rPr>
                        <a:t>Peut être </a:t>
                      </a:r>
                      <a:r>
                        <a:rPr lang="fr-FR" sz="1500" dirty="0" err="1">
                          <a:effectLst/>
                        </a:rPr>
                        <a:t>null</a:t>
                      </a:r>
                      <a:r>
                        <a:rPr lang="fr-FR" sz="1500" dirty="0">
                          <a:effectLst/>
                        </a:rPr>
                        <a:t> (vente anonyme)</a:t>
                      </a:r>
                    </a:p>
                  </a:txBody>
                  <a:tcPr marL="47857" marR="47857" marT="23928" marB="2392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2376258"/>
                  </a:ext>
                </a:extLst>
              </a:tr>
            </a:tbl>
          </a:graphicData>
        </a:graphic>
      </p:graphicFrame>
      <p:graphicFrame>
        <p:nvGraphicFramePr>
          <p:cNvPr id="19" name="Tableau 18">
            <a:extLst>
              <a:ext uri="{FF2B5EF4-FFF2-40B4-BE49-F238E27FC236}">
                <a16:creationId xmlns:a16="http://schemas.microsoft.com/office/drawing/2014/main" id="{1BBD9C28-F879-5F9E-DB73-0904E77382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7768580"/>
              </p:ext>
            </p:extLst>
          </p:nvPr>
        </p:nvGraphicFramePr>
        <p:xfrm>
          <a:off x="2418450" y="6899233"/>
          <a:ext cx="12645150" cy="3093785"/>
        </p:xfrm>
        <a:graphic>
          <a:graphicData uri="http://schemas.openxmlformats.org/drawingml/2006/table">
            <a:tbl>
              <a:tblPr/>
              <a:tblGrid>
                <a:gridCol w="2529030">
                  <a:extLst>
                    <a:ext uri="{9D8B030D-6E8A-4147-A177-3AD203B41FA5}">
                      <a16:colId xmlns:a16="http://schemas.microsoft.com/office/drawing/2014/main" val="826827754"/>
                    </a:ext>
                  </a:extLst>
                </a:gridCol>
                <a:gridCol w="2529030">
                  <a:extLst>
                    <a:ext uri="{9D8B030D-6E8A-4147-A177-3AD203B41FA5}">
                      <a16:colId xmlns:a16="http://schemas.microsoft.com/office/drawing/2014/main" val="1930851373"/>
                    </a:ext>
                  </a:extLst>
                </a:gridCol>
                <a:gridCol w="2529030">
                  <a:extLst>
                    <a:ext uri="{9D8B030D-6E8A-4147-A177-3AD203B41FA5}">
                      <a16:colId xmlns:a16="http://schemas.microsoft.com/office/drawing/2014/main" val="3133921191"/>
                    </a:ext>
                  </a:extLst>
                </a:gridCol>
                <a:gridCol w="2529030">
                  <a:extLst>
                    <a:ext uri="{9D8B030D-6E8A-4147-A177-3AD203B41FA5}">
                      <a16:colId xmlns:a16="http://schemas.microsoft.com/office/drawing/2014/main" val="4157550056"/>
                    </a:ext>
                  </a:extLst>
                </a:gridCol>
                <a:gridCol w="2529030">
                  <a:extLst>
                    <a:ext uri="{9D8B030D-6E8A-4147-A177-3AD203B41FA5}">
                      <a16:colId xmlns:a16="http://schemas.microsoft.com/office/drawing/2014/main" val="350954795"/>
                    </a:ext>
                  </a:extLst>
                </a:gridCol>
              </a:tblGrid>
              <a:tr h="3396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500" b="1" dirty="0">
                          <a:effectLst/>
                        </a:rPr>
                        <a:t>Colonne</a:t>
                      </a:r>
                    </a:p>
                  </a:txBody>
                  <a:tcPr marL="75433" marR="75433" marT="37716" marB="3771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C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500" b="1">
                          <a:effectLst/>
                        </a:rPr>
                        <a:t>Type SQL</a:t>
                      </a:r>
                    </a:p>
                  </a:txBody>
                  <a:tcPr marL="75433" marR="75433" marT="37716" marB="3771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C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500" b="1">
                          <a:effectLst/>
                        </a:rPr>
                        <a:t>Description</a:t>
                      </a:r>
                    </a:p>
                  </a:txBody>
                  <a:tcPr marL="75433" marR="75433" marT="37716" marB="3771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C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500" b="1">
                          <a:effectLst/>
                        </a:rPr>
                        <a:t>Valeur Exemple</a:t>
                      </a:r>
                    </a:p>
                  </a:txBody>
                  <a:tcPr marL="75433" marR="75433" marT="37716" marB="3771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C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500" b="1">
                          <a:effectLst/>
                        </a:rPr>
                        <a:t>Contraintes / Anomalie</a:t>
                      </a:r>
                    </a:p>
                  </a:txBody>
                  <a:tcPr marL="75433" marR="75433" marT="37716" marB="3771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C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1331819"/>
                  </a:ext>
                </a:extLst>
              </a:tr>
              <a:tr h="7768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500">
                          <a:effectLst/>
                        </a:rPr>
                        <a:t>EAN</a:t>
                      </a:r>
                    </a:p>
                  </a:txBody>
                  <a:tcPr marL="75433" marR="75433" marT="37716" marB="3771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500">
                          <a:effectLst/>
                        </a:rPr>
                        <a:t>INTEGER</a:t>
                      </a:r>
                    </a:p>
                  </a:txBody>
                  <a:tcPr marL="75433" marR="75433" marT="37716" marB="3771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500">
                          <a:effectLst/>
                        </a:rPr>
                        <a:t>Code barre unique (European Article Number).</a:t>
                      </a:r>
                    </a:p>
                  </a:txBody>
                  <a:tcPr marL="75433" marR="75433" marT="37716" marB="3771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500">
                          <a:effectLst/>
                        </a:rPr>
                        <a:t>3017620425035</a:t>
                      </a:r>
                    </a:p>
                  </a:txBody>
                  <a:tcPr marL="75433" marR="75433" marT="37716" marB="3771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500">
                          <a:effectLst/>
                        </a:rPr>
                        <a:t>PK - Non null</a:t>
                      </a:r>
                    </a:p>
                  </a:txBody>
                  <a:tcPr marL="75433" marR="75433" marT="37716" marB="3771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5591261"/>
                  </a:ext>
                </a:extLst>
              </a:tr>
              <a:tr h="4853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500">
                          <a:effectLst/>
                        </a:rPr>
                        <a:t>categorie</a:t>
                      </a:r>
                    </a:p>
                  </a:txBody>
                  <a:tcPr marL="75433" marR="75433" marT="37716" marB="3771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500">
                          <a:effectLst/>
                        </a:rPr>
                        <a:t>TEXT</a:t>
                      </a:r>
                    </a:p>
                  </a:txBody>
                  <a:tcPr marL="75433" marR="75433" marT="37716" marB="3771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500">
                          <a:effectLst/>
                        </a:rPr>
                        <a:t>Catégorie parente du produit.</a:t>
                      </a:r>
                    </a:p>
                  </a:txBody>
                  <a:tcPr marL="75433" marR="75433" marT="37716" marB="3771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500">
                          <a:effectLst/>
                        </a:rPr>
                        <a:t>Épicerie</a:t>
                      </a:r>
                    </a:p>
                  </a:txBody>
                  <a:tcPr marL="75433" marR="75433" marT="37716" marB="3771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500">
                          <a:effectLst/>
                        </a:rPr>
                        <a:t>-</a:t>
                      </a:r>
                    </a:p>
                  </a:txBody>
                  <a:tcPr marL="75433" marR="75433" marT="37716" marB="3771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578523"/>
                  </a:ext>
                </a:extLst>
              </a:tr>
              <a:tr h="4853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500">
                          <a:effectLst/>
                        </a:rPr>
                        <a:t>Rayon</a:t>
                      </a:r>
                    </a:p>
                  </a:txBody>
                  <a:tcPr marL="75433" marR="75433" marT="37716" marB="3771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500">
                          <a:effectLst/>
                        </a:rPr>
                        <a:t>TEXT</a:t>
                      </a:r>
                    </a:p>
                  </a:txBody>
                  <a:tcPr marL="75433" marR="75433" marT="37716" marB="3771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500">
                          <a:effectLst/>
                        </a:rPr>
                        <a:t>Rayon spécifique en magasin.</a:t>
                      </a:r>
                    </a:p>
                  </a:txBody>
                  <a:tcPr marL="75433" marR="75433" marT="37716" marB="3771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500">
                          <a:effectLst/>
                        </a:rPr>
                        <a:t>Pâtes et riz</a:t>
                      </a:r>
                    </a:p>
                  </a:txBody>
                  <a:tcPr marL="75433" marR="75433" marT="37716" marB="3771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500">
                          <a:effectLst/>
                        </a:rPr>
                        <a:t>-</a:t>
                      </a:r>
                    </a:p>
                  </a:txBody>
                  <a:tcPr marL="75433" marR="75433" marT="37716" marB="3771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0737208"/>
                  </a:ext>
                </a:extLst>
              </a:tr>
              <a:tr h="4738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500">
                          <a:effectLst/>
                        </a:rPr>
                        <a:t>Libelle_produit</a:t>
                      </a:r>
                    </a:p>
                  </a:txBody>
                  <a:tcPr marL="75433" marR="75433" marT="37716" marB="3771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500">
                          <a:effectLst/>
                        </a:rPr>
                        <a:t>TEXT</a:t>
                      </a:r>
                    </a:p>
                  </a:txBody>
                  <a:tcPr marL="75433" marR="75433" marT="37716" marB="3771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500">
                          <a:effectLst/>
                        </a:rPr>
                        <a:t>Nom descriptif du produit.</a:t>
                      </a:r>
                    </a:p>
                  </a:txBody>
                  <a:tcPr marL="75433" marR="75433" marT="37716" marB="3771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500" dirty="0">
                          <a:effectLst/>
                        </a:rPr>
                        <a:t>Pâtes Panzani 500g</a:t>
                      </a:r>
                    </a:p>
                  </a:txBody>
                  <a:tcPr marL="75433" marR="75433" marT="37716" marB="3771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500">
                          <a:effectLst/>
                        </a:rPr>
                        <a:t>-</a:t>
                      </a:r>
                    </a:p>
                  </a:txBody>
                  <a:tcPr marL="75433" marR="75433" marT="37716" marB="3771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0690514"/>
                  </a:ext>
                </a:extLst>
              </a:tr>
              <a:tr h="4853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500">
                          <a:effectLst/>
                        </a:rPr>
                        <a:t>prix</a:t>
                      </a:r>
                    </a:p>
                  </a:txBody>
                  <a:tcPr marL="75433" marR="75433" marT="37716" marB="3771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500">
                          <a:effectLst/>
                        </a:rPr>
                        <a:t>REAL</a:t>
                      </a:r>
                    </a:p>
                  </a:txBody>
                  <a:tcPr marL="75433" marR="75433" marT="37716" marB="3771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500">
                          <a:effectLst/>
                        </a:rPr>
                        <a:t>Prix unitaire TTC du produit en euros.</a:t>
                      </a:r>
                    </a:p>
                  </a:txBody>
                  <a:tcPr marL="75433" marR="75433" marT="37716" marB="3771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500">
                          <a:effectLst/>
                        </a:rPr>
                        <a:t>1.79</a:t>
                      </a:r>
                    </a:p>
                  </a:txBody>
                  <a:tcPr marL="75433" marR="75433" marT="37716" marB="3771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500" dirty="0">
                          <a:effectLst/>
                        </a:rPr>
                        <a:t>Doit être &gt; 0</a:t>
                      </a:r>
                    </a:p>
                  </a:txBody>
                  <a:tcPr marL="75433" marR="75433" marT="37716" marB="3771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73012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664923" y="701277"/>
            <a:ext cx="264674" cy="264674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B6E50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 rot="1195273">
            <a:off x="11479713" y="6529632"/>
            <a:ext cx="8888398" cy="7514736"/>
          </a:xfrm>
          <a:custGeom>
            <a:avLst/>
            <a:gdLst/>
            <a:ahLst/>
            <a:cxnLst/>
            <a:rect l="l" t="t" r="r" b="b"/>
            <a:pathLst>
              <a:path w="8888398" h="7514736">
                <a:moveTo>
                  <a:pt x="0" y="0"/>
                </a:moveTo>
                <a:lnTo>
                  <a:pt x="8888398" y="0"/>
                </a:lnTo>
                <a:lnTo>
                  <a:pt x="8888398" y="7514736"/>
                </a:lnTo>
                <a:lnTo>
                  <a:pt x="0" y="751473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8470115">
            <a:off x="17253124" y="7683832"/>
            <a:ext cx="4495479" cy="3587985"/>
          </a:xfrm>
          <a:custGeom>
            <a:avLst/>
            <a:gdLst/>
            <a:ahLst/>
            <a:cxnLst/>
            <a:rect l="l" t="t" r="r" b="b"/>
            <a:pathLst>
              <a:path w="4495479" h="3587985">
                <a:moveTo>
                  <a:pt x="0" y="0"/>
                </a:moveTo>
                <a:lnTo>
                  <a:pt x="4495479" y="0"/>
                </a:lnTo>
                <a:lnTo>
                  <a:pt x="4495479" y="3587985"/>
                </a:lnTo>
                <a:lnTo>
                  <a:pt x="0" y="358798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16924170" y="204366"/>
            <a:ext cx="1144250" cy="1144250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155617" y="0"/>
                  </a:moveTo>
                  <a:lnTo>
                    <a:pt x="657183" y="0"/>
                  </a:lnTo>
                  <a:cubicBezTo>
                    <a:pt x="743128" y="0"/>
                    <a:pt x="812800" y="69672"/>
                    <a:pt x="812800" y="155617"/>
                  </a:cubicBezTo>
                  <a:lnTo>
                    <a:pt x="812800" y="657183"/>
                  </a:lnTo>
                  <a:cubicBezTo>
                    <a:pt x="812800" y="743128"/>
                    <a:pt x="743128" y="812800"/>
                    <a:pt x="657183" y="812800"/>
                  </a:cubicBezTo>
                  <a:lnTo>
                    <a:pt x="155617" y="812800"/>
                  </a:lnTo>
                  <a:cubicBezTo>
                    <a:pt x="69672" y="812800"/>
                    <a:pt x="0" y="743128"/>
                    <a:pt x="0" y="657183"/>
                  </a:cubicBezTo>
                  <a:lnTo>
                    <a:pt x="0" y="155617"/>
                  </a:lnTo>
                  <a:cubicBezTo>
                    <a:pt x="0" y="69672"/>
                    <a:pt x="69672" y="0"/>
                    <a:pt x="155617" y="0"/>
                  </a:cubicBezTo>
                  <a:close/>
                </a:path>
              </a:pathLst>
            </a:custGeom>
            <a:blipFill>
              <a:blip r:embed="rId5"/>
              <a:stretch>
                <a:fillRect l="-74960" t="-12657" r="-80133" b="-30195"/>
              </a:stretch>
            </a:blipFill>
          </p:spPr>
        </p:sp>
      </p:grpSp>
      <p:sp>
        <p:nvSpPr>
          <p:cNvPr id="11" name="TextBox 11"/>
          <p:cNvSpPr txBox="1"/>
          <p:nvPr/>
        </p:nvSpPr>
        <p:spPr>
          <a:xfrm>
            <a:off x="1394265" y="23533"/>
            <a:ext cx="15014809" cy="7048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400"/>
              </a:lnSpc>
              <a:spcBef>
                <a:spcPct val="0"/>
              </a:spcBef>
            </a:pPr>
            <a:r>
              <a:rPr lang="en-US" sz="4500" b="1" dirty="0" err="1">
                <a:solidFill>
                  <a:srgbClr val="000000"/>
                </a:solidFill>
                <a:latin typeface="TS Qamus Bold"/>
                <a:ea typeface="TS Qamus Bold"/>
                <a:cs typeface="TS Qamus Bold"/>
                <a:sym typeface="TS Qamus Bold"/>
              </a:rPr>
              <a:t>Dictionnaire</a:t>
            </a:r>
            <a:r>
              <a:rPr lang="en-US" sz="4500" b="1" dirty="0">
                <a:solidFill>
                  <a:srgbClr val="000000"/>
                </a:solidFill>
                <a:latin typeface="TS Qamus Bold"/>
                <a:ea typeface="TS Qamus Bold"/>
                <a:cs typeface="TS Qamus Bold"/>
                <a:sym typeface="TS Qamus Bold"/>
              </a:rPr>
              <a:t> de données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311607" y="584141"/>
            <a:ext cx="525999" cy="525999"/>
            <a:chOff x="0" y="0"/>
            <a:chExt cx="6350000" cy="63500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4F4F8C"/>
            </a:solidFill>
          </p:spPr>
        </p:sp>
      </p:grpSp>
      <p:sp>
        <p:nvSpPr>
          <p:cNvPr id="14" name="TextBox 14"/>
          <p:cNvSpPr txBox="1"/>
          <p:nvPr/>
        </p:nvSpPr>
        <p:spPr>
          <a:xfrm>
            <a:off x="574607" y="1176717"/>
            <a:ext cx="5051891" cy="8605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 i="1">
                <a:solidFill>
                  <a:srgbClr val="000000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Table Dim_Clients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endParaRPr lang="en-US" sz="2499" i="1">
              <a:solidFill>
                <a:srgbClr val="000000"/>
              </a:solidFill>
              <a:latin typeface="Open Sans Italics"/>
              <a:ea typeface="Open Sans Italics"/>
              <a:cs typeface="Open Sans Italics"/>
              <a:sym typeface="Open Sans Italics"/>
            </a:endParaRPr>
          </a:p>
        </p:txBody>
      </p:sp>
      <p:grpSp>
        <p:nvGrpSpPr>
          <p:cNvPr id="15" name="Group 15"/>
          <p:cNvGrpSpPr/>
          <p:nvPr/>
        </p:nvGrpSpPr>
        <p:grpSpPr>
          <a:xfrm>
            <a:off x="194755" y="3354241"/>
            <a:ext cx="525999" cy="525999"/>
            <a:chOff x="0" y="0"/>
            <a:chExt cx="6350000" cy="63500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4F4F8C"/>
            </a:solidFill>
          </p:spPr>
        </p:sp>
      </p:grpSp>
      <p:sp>
        <p:nvSpPr>
          <p:cNvPr id="17" name="TextBox 17"/>
          <p:cNvSpPr txBox="1"/>
          <p:nvPr/>
        </p:nvSpPr>
        <p:spPr>
          <a:xfrm>
            <a:off x="311607" y="3975490"/>
            <a:ext cx="5051891" cy="8605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 i="1">
                <a:solidFill>
                  <a:srgbClr val="000000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Table Dim_Employes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endParaRPr lang="en-US" sz="2499" i="1">
              <a:solidFill>
                <a:srgbClr val="000000"/>
              </a:solidFill>
              <a:latin typeface="Open Sans Italics"/>
              <a:ea typeface="Open Sans Italics"/>
              <a:cs typeface="Open Sans Italics"/>
              <a:sym typeface="Open Sans Italics"/>
            </a:endParaRPr>
          </a:p>
        </p:txBody>
      </p:sp>
      <p:graphicFrame>
        <p:nvGraphicFramePr>
          <p:cNvPr id="18" name="Tableau 17">
            <a:extLst>
              <a:ext uri="{FF2B5EF4-FFF2-40B4-BE49-F238E27FC236}">
                <a16:creationId xmlns:a16="http://schemas.microsoft.com/office/drawing/2014/main" id="{58AE213C-F0CE-BB88-BBC2-C9A4A71E26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6142986"/>
              </p:ext>
            </p:extLst>
          </p:nvPr>
        </p:nvGraphicFramePr>
        <p:xfrm>
          <a:off x="4649236" y="1062745"/>
          <a:ext cx="8229600" cy="2855595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176195518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4542902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1095185837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96428895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911540994"/>
                    </a:ext>
                  </a:extLst>
                </a:gridCol>
              </a:tblGrid>
              <a:tr h="7524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b="1">
                          <a:effectLst/>
                        </a:rPr>
                        <a:t>Colonne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C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b="1">
                          <a:effectLst/>
                        </a:rPr>
                        <a:t>Type SQL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C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b="1">
                          <a:effectLst/>
                        </a:rPr>
                        <a:t>Description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C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b="1">
                          <a:effectLst/>
                        </a:rPr>
                        <a:t>Valeur Exemple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C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b="1">
                          <a:effectLst/>
                        </a:rPr>
                        <a:t>Contraintes / Anomalie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C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3356229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>
                          <a:effectLst/>
                        </a:rPr>
                        <a:t>CUSTOMER_ID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>
                          <a:effectLst/>
                        </a:rPr>
                        <a:t>TEXT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>
                          <a:effectLst/>
                        </a:rPr>
                        <a:t>Identifiant unique du client.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>
                          <a:effectLst/>
                        </a:rPr>
                        <a:t>CUST-0042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>
                          <a:effectLst/>
                        </a:rPr>
                        <a:t>PK - Non null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4016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>
                          <a:effectLst/>
                        </a:rPr>
                        <a:t>date_inscription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>
                          <a:effectLst/>
                        </a:rPr>
                        <a:t>TEXT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dirty="0">
                          <a:effectLst/>
                        </a:rPr>
                        <a:t>Date d'adhésion au programme de fidélité.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>
                          <a:effectLst/>
                        </a:rPr>
                        <a:t>15/05/2022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dirty="0">
                          <a:effectLst/>
                        </a:rPr>
                        <a:t>-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9170654"/>
                  </a:ext>
                </a:extLst>
              </a:tr>
            </a:tbl>
          </a:graphicData>
        </a:graphic>
      </p:graphicFrame>
      <p:graphicFrame>
        <p:nvGraphicFramePr>
          <p:cNvPr id="19" name="Tableau 18">
            <a:extLst>
              <a:ext uri="{FF2B5EF4-FFF2-40B4-BE49-F238E27FC236}">
                <a16:creationId xmlns:a16="http://schemas.microsoft.com/office/drawing/2014/main" id="{789A32BF-97F8-9827-77B5-04586525BE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8552398"/>
              </p:ext>
            </p:extLst>
          </p:nvPr>
        </p:nvGraphicFramePr>
        <p:xfrm>
          <a:off x="4670018" y="4295318"/>
          <a:ext cx="8254485" cy="5760217"/>
        </p:xfrm>
        <a:graphic>
          <a:graphicData uri="http://schemas.openxmlformats.org/drawingml/2006/table">
            <a:tbl>
              <a:tblPr/>
              <a:tblGrid>
                <a:gridCol w="1650897">
                  <a:extLst>
                    <a:ext uri="{9D8B030D-6E8A-4147-A177-3AD203B41FA5}">
                      <a16:colId xmlns:a16="http://schemas.microsoft.com/office/drawing/2014/main" val="446719973"/>
                    </a:ext>
                  </a:extLst>
                </a:gridCol>
                <a:gridCol w="1650897">
                  <a:extLst>
                    <a:ext uri="{9D8B030D-6E8A-4147-A177-3AD203B41FA5}">
                      <a16:colId xmlns:a16="http://schemas.microsoft.com/office/drawing/2014/main" val="3317462530"/>
                    </a:ext>
                  </a:extLst>
                </a:gridCol>
                <a:gridCol w="1650897">
                  <a:extLst>
                    <a:ext uri="{9D8B030D-6E8A-4147-A177-3AD203B41FA5}">
                      <a16:colId xmlns:a16="http://schemas.microsoft.com/office/drawing/2014/main" val="4271817915"/>
                    </a:ext>
                  </a:extLst>
                </a:gridCol>
                <a:gridCol w="1650897">
                  <a:extLst>
                    <a:ext uri="{9D8B030D-6E8A-4147-A177-3AD203B41FA5}">
                      <a16:colId xmlns:a16="http://schemas.microsoft.com/office/drawing/2014/main" val="2185571022"/>
                    </a:ext>
                  </a:extLst>
                </a:gridCol>
                <a:gridCol w="1650897">
                  <a:extLst>
                    <a:ext uri="{9D8B030D-6E8A-4147-A177-3AD203B41FA5}">
                      <a16:colId xmlns:a16="http://schemas.microsoft.com/office/drawing/2014/main" val="3114561273"/>
                    </a:ext>
                  </a:extLst>
                </a:gridCol>
              </a:tblGrid>
              <a:tr h="5468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500" b="1" dirty="0">
                          <a:effectLst/>
                        </a:rPr>
                        <a:t>Colonne</a:t>
                      </a:r>
                    </a:p>
                  </a:txBody>
                  <a:tcPr marL="52535" marR="52535" marT="26268" marB="2626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6B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500" b="1">
                          <a:effectLst/>
                        </a:rPr>
                        <a:t>Type SQL</a:t>
                      </a:r>
                    </a:p>
                  </a:txBody>
                  <a:tcPr marL="52535" marR="52535" marT="26268" marB="2626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6B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500" b="1">
                          <a:effectLst/>
                        </a:rPr>
                        <a:t>Description</a:t>
                      </a:r>
                    </a:p>
                  </a:txBody>
                  <a:tcPr marL="52535" marR="52535" marT="26268" marB="2626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6B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500" b="1">
                          <a:effectLst/>
                        </a:rPr>
                        <a:t>Valeur Exemple</a:t>
                      </a:r>
                    </a:p>
                  </a:txBody>
                  <a:tcPr marL="52535" marR="52535" marT="26268" marB="2626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6B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500" b="1">
                          <a:effectLst/>
                        </a:rPr>
                        <a:t>Contraintes / Anomalie</a:t>
                      </a:r>
                    </a:p>
                  </a:txBody>
                  <a:tcPr marL="52535" marR="52535" marT="26268" marB="2626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6B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4893038"/>
                  </a:ext>
                </a:extLst>
              </a:tr>
              <a:tr h="8638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500">
                          <a:effectLst/>
                        </a:rPr>
                        <a:t>id_employe</a:t>
                      </a:r>
                    </a:p>
                  </a:txBody>
                  <a:tcPr marL="52535" marR="52535" marT="26268" marB="2626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500" dirty="0">
                          <a:effectLst/>
                        </a:rPr>
                        <a:t>TEXT</a:t>
                      </a:r>
                    </a:p>
                  </a:txBody>
                  <a:tcPr marL="52535" marR="52535" marT="26268" marB="2626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500">
                          <a:effectLst/>
                        </a:rPr>
                        <a:t>Identifiant unique de l'employé (Hash SHA).</a:t>
                      </a:r>
                    </a:p>
                  </a:txBody>
                  <a:tcPr marL="52535" marR="52535" marT="26268" marB="2626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500">
                          <a:effectLst/>
                        </a:rPr>
                        <a:t>e3b0c442...</a:t>
                      </a:r>
                    </a:p>
                  </a:txBody>
                  <a:tcPr marL="52535" marR="52535" marT="26268" marB="2626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500">
                          <a:effectLst/>
                        </a:rPr>
                        <a:t>PK - Non null</a:t>
                      </a:r>
                    </a:p>
                  </a:txBody>
                  <a:tcPr marL="52535" marR="52535" marT="26268" marB="2626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2985193"/>
                  </a:ext>
                </a:extLst>
              </a:tr>
              <a:tr h="8638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500">
                          <a:effectLst/>
                        </a:rPr>
                        <a:t>employe</a:t>
                      </a:r>
                    </a:p>
                  </a:txBody>
                  <a:tcPr marL="52535" marR="52535" marT="26268" marB="2626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500">
                          <a:effectLst/>
                        </a:rPr>
                        <a:t>TEXT</a:t>
                      </a:r>
                    </a:p>
                  </a:txBody>
                  <a:tcPr marL="52535" marR="52535" marT="26268" marB="2626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500">
                          <a:effectLst/>
                        </a:rPr>
                        <a:t>Identifiant court / username de connexion.</a:t>
                      </a:r>
                    </a:p>
                  </a:txBody>
                  <a:tcPr marL="52535" marR="52535" marT="26268" marB="2626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500">
                          <a:effectLst/>
                        </a:rPr>
                        <a:t>jmartin</a:t>
                      </a:r>
                    </a:p>
                  </a:txBody>
                  <a:tcPr marL="52535" marR="52535" marT="26268" marB="2626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500">
                          <a:effectLst/>
                        </a:rPr>
                        <a:t>-</a:t>
                      </a:r>
                    </a:p>
                  </a:txBody>
                  <a:tcPr marL="52535" marR="52535" marT="26268" marB="2626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180132"/>
                  </a:ext>
                </a:extLst>
              </a:tr>
              <a:tr h="4983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500">
                          <a:effectLst/>
                        </a:rPr>
                        <a:t>prenom</a:t>
                      </a:r>
                    </a:p>
                  </a:txBody>
                  <a:tcPr marL="52535" marR="52535" marT="26268" marB="2626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500">
                          <a:effectLst/>
                        </a:rPr>
                        <a:t>TEXT</a:t>
                      </a:r>
                    </a:p>
                  </a:txBody>
                  <a:tcPr marL="52535" marR="52535" marT="26268" marB="2626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500">
                          <a:effectLst/>
                        </a:rPr>
                        <a:t>Prénom de l'employé.</a:t>
                      </a:r>
                    </a:p>
                  </a:txBody>
                  <a:tcPr marL="52535" marR="52535" marT="26268" marB="2626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500">
                          <a:effectLst/>
                        </a:rPr>
                        <a:t>Jean</a:t>
                      </a:r>
                    </a:p>
                  </a:txBody>
                  <a:tcPr marL="52535" marR="52535" marT="26268" marB="2626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500">
                          <a:effectLst/>
                        </a:rPr>
                        <a:t>-</a:t>
                      </a:r>
                    </a:p>
                  </a:txBody>
                  <a:tcPr marL="52535" marR="52535" marT="26268" marB="2626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3187612"/>
                  </a:ext>
                </a:extLst>
              </a:tr>
              <a:tr h="4983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500">
                          <a:effectLst/>
                        </a:rPr>
                        <a:t>nom</a:t>
                      </a:r>
                    </a:p>
                  </a:txBody>
                  <a:tcPr marL="52535" marR="52535" marT="26268" marB="2626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500">
                          <a:effectLst/>
                        </a:rPr>
                        <a:t>TEXT</a:t>
                      </a:r>
                    </a:p>
                  </a:txBody>
                  <a:tcPr marL="52535" marR="52535" marT="26268" marB="2626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500">
                          <a:effectLst/>
                        </a:rPr>
                        <a:t>Nom de famille de l'employé.</a:t>
                      </a:r>
                    </a:p>
                  </a:txBody>
                  <a:tcPr marL="52535" marR="52535" marT="26268" marB="2626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500">
                          <a:effectLst/>
                        </a:rPr>
                        <a:t>Martin</a:t>
                      </a:r>
                    </a:p>
                  </a:txBody>
                  <a:tcPr marL="52535" marR="52535" marT="26268" marB="2626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500">
                          <a:effectLst/>
                        </a:rPr>
                        <a:t>-</a:t>
                      </a:r>
                    </a:p>
                  </a:txBody>
                  <a:tcPr marL="52535" marR="52535" marT="26268" marB="2626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5812479"/>
                  </a:ext>
                </a:extLst>
              </a:tr>
              <a:tr h="8638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500">
                          <a:effectLst/>
                        </a:rPr>
                        <a:t>date_debut</a:t>
                      </a:r>
                    </a:p>
                  </a:txBody>
                  <a:tcPr marL="52535" marR="52535" marT="26268" marB="2626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500">
                          <a:effectLst/>
                        </a:rPr>
                        <a:t>INTEGER</a:t>
                      </a:r>
                    </a:p>
                  </a:txBody>
                  <a:tcPr marL="52535" marR="52535" marT="26268" marB="2626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500">
                          <a:effectLst/>
                        </a:rPr>
                        <a:t>Date d'embauche au format sériel Excel.</a:t>
                      </a:r>
                    </a:p>
                  </a:txBody>
                  <a:tcPr marL="52535" marR="52535" marT="26268" marB="2626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500">
                          <a:effectLst/>
                        </a:rPr>
                        <a:t>44562</a:t>
                      </a:r>
                    </a:p>
                  </a:txBody>
                  <a:tcPr marL="52535" marR="52535" marT="26268" marB="2626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500">
                          <a:effectLst/>
                        </a:rPr>
                        <a:t>-</a:t>
                      </a:r>
                    </a:p>
                  </a:txBody>
                  <a:tcPr marL="52535" marR="52535" marT="26268" marB="2626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5927695"/>
                  </a:ext>
                </a:extLst>
              </a:tr>
              <a:tr h="8638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500">
                          <a:effectLst/>
                        </a:rPr>
                        <a:t>hash_mdp</a:t>
                      </a:r>
                    </a:p>
                  </a:txBody>
                  <a:tcPr marL="52535" marR="52535" marT="26268" marB="2626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500">
                          <a:effectLst/>
                        </a:rPr>
                        <a:t>TEXT</a:t>
                      </a:r>
                    </a:p>
                  </a:txBody>
                  <a:tcPr marL="52535" marR="52535" marT="26268" marB="2626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500">
                          <a:effectLst/>
                        </a:rPr>
                        <a:t>Hash du mot de passe (donnée sensible RGPD).</a:t>
                      </a:r>
                    </a:p>
                  </a:txBody>
                  <a:tcPr marL="52535" marR="52535" marT="26268" marB="2626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500">
                          <a:effectLst/>
                        </a:rPr>
                        <a:t>$2b$12$...</a:t>
                      </a:r>
                    </a:p>
                  </a:txBody>
                  <a:tcPr marL="52535" marR="52535" marT="26268" marB="2626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500">
                          <a:effectLst/>
                        </a:rPr>
                        <a:t>Donnée sensible - Anonymisée</a:t>
                      </a:r>
                    </a:p>
                  </a:txBody>
                  <a:tcPr marL="52535" marR="52535" marT="26268" marB="2626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9459356"/>
                  </a:ext>
                </a:extLst>
              </a:tr>
              <a:tr h="7257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500">
                          <a:effectLst/>
                        </a:rPr>
                        <a:t>mail</a:t>
                      </a:r>
                    </a:p>
                  </a:txBody>
                  <a:tcPr marL="52535" marR="52535" marT="26268" marB="2626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500">
                          <a:effectLst/>
                        </a:rPr>
                        <a:t>TEXT</a:t>
                      </a:r>
                    </a:p>
                  </a:txBody>
                  <a:tcPr marL="52535" marR="52535" marT="26268" marB="2626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500">
                          <a:effectLst/>
                        </a:rPr>
                        <a:t>Adresse email professionnelle de l'employé.</a:t>
                      </a:r>
                    </a:p>
                  </a:txBody>
                  <a:tcPr marL="52535" marR="52535" marT="26268" marB="2626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500">
                          <a:effectLst/>
                        </a:rPr>
                        <a:t>j.martin@ssmarket.fr</a:t>
                      </a:r>
                    </a:p>
                  </a:txBody>
                  <a:tcPr marL="52535" marR="52535" marT="26268" marB="2626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500" dirty="0">
                          <a:effectLst/>
                        </a:rPr>
                        <a:t>Donnée sensible - Anonymisée</a:t>
                      </a:r>
                    </a:p>
                  </a:txBody>
                  <a:tcPr marL="52535" marR="52535" marT="26268" marB="2626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351479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011663" y="685767"/>
            <a:ext cx="264674" cy="264674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B6E50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 rot="1195273">
            <a:off x="11479713" y="6529632"/>
            <a:ext cx="8888398" cy="7514736"/>
          </a:xfrm>
          <a:custGeom>
            <a:avLst/>
            <a:gdLst/>
            <a:ahLst/>
            <a:cxnLst/>
            <a:rect l="l" t="t" r="r" b="b"/>
            <a:pathLst>
              <a:path w="8888398" h="7514736">
                <a:moveTo>
                  <a:pt x="0" y="0"/>
                </a:moveTo>
                <a:lnTo>
                  <a:pt x="8888398" y="0"/>
                </a:lnTo>
                <a:lnTo>
                  <a:pt x="8888398" y="7514736"/>
                </a:lnTo>
                <a:lnTo>
                  <a:pt x="0" y="751473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8470115">
            <a:off x="17253124" y="7683832"/>
            <a:ext cx="4495479" cy="3587985"/>
          </a:xfrm>
          <a:custGeom>
            <a:avLst/>
            <a:gdLst/>
            <a:ahLst/>
            <a:cxnLst/>
            <a:rect l="l" t="t" r="r" b="b"/>
            <a:pathLst>
              <a:path w="4495479" h="3587985">
                <a:moveTo>
                  <a:pt x="0" y="0"/>
                </a:moveTo>
                <a:lnTo>
                  <a:pt x="4495479" y="0"/>
                </a:lnTo>
                <a:lnTo>
                  <a:pt x="4495479" y="3587985"/>
                </a:lnTo>
                <a:lnTo>
                  <a:pt x="0" y="358798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16924170" y="204366"/>
            <a:ext cx="1144250" cy="1144250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155617" y="0"/>
                  </a:moveTo>
                  <a:lnTo>
                    <a:pt x="657183" y="0"/>
                  </a:lnTo>
                  <a:cubicBezTo>
                    <a:pt x="743128" y="0"/>
                    <a:pt x="812800" y="69672"/>
                    <a:pt x="812800" y="155617"/>
                  </a:cubicBezTo>
                  <a:lnTo>
                    <a:pt x="812800" y="657183"/>
                  </a:lnTo>
                  <a:cubicBezTo>
                    <a:pt x="812800" y="743128"/>
                    <a:pt x="743128" y="812800"/>
                    <a:pt x="657183" y="812800"/>
                  </a:cubicBezTo>
                  <a:lnTo>
                    <a:pt x="155617" y="812800"/>
                  </a:lnTo>
                  <a:cubicBezTo>
                    <a:pt x="69672" y="812800"/>
                    <a:pt x="0" y="743128"/>
                    <a:pt x="0" y="657183"/>
                  </a:cubicBezTo>
                  <a:lnTo>
                    <a:pt x="0" y="155617"/>
                  </a:lnTo>
                  <a:cubicBezTo>
                    <a:pt x="0" y="69672"/>
                    <a:pt x="69672" y="0"/>
                    <a:pt x="155617" y="0"/>
                  </a:cubicBezTo>
                  <a:close/>
                </a:path>
              </a:pathLst>
            </a:custGeom>
            <a:blipFill>
              <a:blip r:embed="rId5"/>
              <a:stretch>
                <a:fillRect l="-74960" t="-12657" r="-80133" b="-30195"/>
              </a:stretch>
            </a:blipFill>
          </p:spPr>
        </p:sp>
      </p:grpSp>
      <p:sp>
        <p:nvSpPr>
          <p:cNvPr id="10" name="TextBox 10"/>
          <p:cNvSpPr txBox="1"/>
          <p:nvPr/>
        </p:nvSpPr>
        <p:spPr>
          <a:xfrm>
            <a:off x="1768932" y="-19050"/>
            <a:ext cx="15014809" cy="7048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400"/>
              </a:lnSpc>
              <a:spcBef>
                <a:spcPct val="0"/>
              </a:spcBef>
            </a:pPr>
            <a:r>
              <a:rPr lang="en-US" sz="4500" b="1">
                <a:solidFill>
                  <a:srgbClr val="000000"/>
                </a:solidFill>
                <a:latin typeface="TS Qamus Bold"/>
                <a:ea typeface="TS Qamus Bold"/>
                <a:cs typeface="TS Qamus Bold"/>
                <a:sym typeface="TS Qamus Bold"/>
              </a:rPr>
              <a:t>Dictionnaire de données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329212" y="2034814"/>
            <a:ext cx="525999" cy="525999"/>
            <a:chOff x="0" y="0"/>
            <a:chExt cx="6350000" cy="63500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4F4F8C"/>
            </a:solidFill>
          </p:spPr>
        </p:sp>
      </p:grpSp>
      <p:sp>
        <p:nvSpPr>
          <p:cNvPr id="13" name="TextBox 13"/>
          <p:cNvSpPr txBox="1"/>
          <p:nvPr/>
        </p:nvSpPr>
        <p:spPr>
          <a:xfrm>
            <a:off x="592211" y="2627391"/>
            <a:ext cx="5051891" cy="8605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i="1">
                <a:solidFill>
                  <a:srgbClr val="000000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Table Dim_Calendrier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endParaRPr lang="en-US" sz="2499" i="1">
              <a:solidFill>
                <a:srgbClr val="000000"/>
              </a:solidFill>
              <a:latin typeface="Open Sans Italics"/>
              <a:ea typeface="Open Sans Italics"/>
              <a:cs typeface="Open Sans Italics"/>
              <a:sym typeface="Open Sans Italics"/>
            </a:endParaRPr>
          </a:p>
        </p:txBody>
      </p:sp>
      <p:graphicFrame>
        <p:nvGraphicFramePr>
          <p:cNvPr id="14" name="Tableau 13">
            <a:extLst>
              <a:ext uri="{FF2B5EF4-FFF2-40B4-BE49-F238E27FC236}">
                <a16:creationId xmlns:a16="http://schemas.microsoft.com/office/drawing/2014/main" id="{4F069AE5-AB61-1CF8-691F-0B736CB10F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3713630"/>
              </p:ext>
            </p:extLst>
          </p:nvPr>
        </p:nvGraphicFramePr>
        <p:xfrm>
          <a:off x="4322988" y="1655258"/>
          <a:ext cx="10917015" cy="8060242"/>
        </p:xfrm>
        <a:graphic>
          <a:graphicData uri="http://schemas.openxmlformats.org/drawingml/2006/table">
            <a:tbl>
              <a:tblPr/>
              <a:tblGrid>
                <a:gridCol w="2183403">
                  <a:extLst>
                    <a:ext uri="{9D8B030D-6E8A-4147-A177-3AD203B41FA5}">
                      <a16:colId xmlns:a16="http://schemas.microsoft.com/office/drawing/2014/main" val="1780646467"/>
                    </a:ext>
                  </a:extLst>
                </a:gridCol>
                <a:gridCol w="2183403">
                  <a:extLst>
                    <a:ext uri="{9D8B030D-6E8A-4147-A177-3AD203B41FA5}">
                      <a16:colId xmlns:a16="http://schemas.microsoft.com/office/drawing/2014/main" val="3008758885"/>
                    </a:ext>
                  </a:extLst>
                </a:gridCol>
                <a:gridCol w="2183403">
                  <a:extLst>
                    <a:ext uri="{9D8B030D-6E8A-4147-A177-3AD203B41FA5}">
                      <a16:colId xmlns:a16="http://schemas.microsoft.com/office/drawing/2014/main" val="404681295"/>
                    </a:ext>
                  </a:extLst>
                </a:gridCol>
                <a:gridCol w="2183403">
                  <a:extLst>
                    <a:ext uri="{9D8B030D-6E8A-4147-A177-3AD203B41FA5}">
                      <a16:colId xmlns:a16="http://schemas.microsoft.com/office/drawing/2014/main" val="1393860810"/>
                    </a:ext>
                  </a:extLst>
                </a:gridCol>
                <a:gridCol w="2183403">
                  <a:extLst>
                    <a:ext uri="{9D8B030D-6E8A-4147-A177-3AD203B41FA5}">
                      <a16:colId xmlns:a16="http://schemas.microsoft.com/office/drawing/2014/main" val="835118057"/>
                    </a:ext>
                  </a:extLst>
                </a:gridCol>
              </a:tblGrid>
              <a:tr h="7858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500" b="1" dirty="0">
                          <a:effectLst/>
                        </a:rPr>
                        <a:t>Colonne</a:t>
                      </a:r>
                    </a:p>
                  </a:txBody>
                  <a:tcPr marL="42031" marR="42031" marT="21016" marB="2101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6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500" b="1">
                          <a:effectLst/>
                        </a:rPr>
                        <a:t>Type SQL</a:t>
                      </a:r>
                    </a:p>
                  </a:txBody>
                  <a:tcPr marL="42031" marR="42031" marT="21016" marB="2101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6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500" b="1">
                          <a:effectLst/>
                        </a:rPr>
                        <a:t>Description</a:t>
                      </a:r>
                    </a:p>
                  </a:txBody>
                  <a:tcPr marL="42031" marR="42031" marT="21016" marB="2101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6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500" b="1">
                          <a:effectLst/>
                        </a:rPr>
                        <a:t>Valeur Exemple</a:t>
                      </a:r>
                    </a:p>
                  </a:txBody>
                  <a:tcPr marL="42031" marR="42031" marT="21016" marB="2101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6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500" b="1">
                          <a:effectLst/>
                        </a:rPr>
                        <a:t>Contraintes / Anomalie</a:t>
                      </a:r>
                    </a:p>
                  </a:txBody>
                  <a:tcPr marL="42031" marR="42031" marT="21016" marB="2101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6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2621479"/>
                  </a:ext>
                </a:extLst>
              </a:tr>
              <a:tr h="11976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500">
                          <a:effectLst/>
                        </a:rPr>
                        <a:t>date_excel</a:t>
                      </a:r>
                    </a:p>
                  </a:txBody>
                  <a:tcPr marL="42031" marR="42031" marT="21016" marB="2101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500">
                          <a:effectLst/>
                        </a:rPr>
                        <a:t>INTEGER</a:t>
                      </a:r>
                    </a:p>
                  </a:txBody>
                  <a:tcPr marL="42031" marR="42031" marT="21016" marB="2101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500">
                          <a:effectLst/>
                        </a:rPr>
                        <a:t>Clé de date en format sériel Excel. Clé de jointure principale.</a:t>
                      </a:r>
                    </a:p>
                  </a:txBody>
                  <a:tcPr marL="42031" marR="42031" marT="21016" marB="2101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500">
                          <a:effectLst/>
                        </a:rPr>
                        <a:t>45518</a:t>
                      </a:r>
                    </a:p>
                  </a:txBody>
                  <a:tcPr marL="42031" marR="42031" marT="21016" marB="2101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500">
                          <a:effectLst/>
                        </a:rPr>
                        <a:t>PK - Non null</a:t>
                      </a:r>
                    </a:p>
                  </a:txBody>
                  <a:tcPr marL="42031" marR="42031" marT="21016" marB="2101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1253863"/>
                  </a:ext>
                </a:extLst>
              </a:tr>
              <a:tr h="6532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500">
                          <a:effectLst/>
                        </a:rPr>
                        <a:t>annee</a:t>
                      </a:r>
                    </a:p>
                  </a:txBody>
                  <a:tcPr marL="42031" marR="42031" marT="21016" marB="2101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500">
                          <a:effectLst/>
                        </a:rPr>
                        <a:t>INTEGER</a:t>
                      </a:r>
                    </a:p>
                  </a:txBody>
                  <a:tcPr marL="42031" marR="42031" marT="21016" marB="2101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500">
                          <a:effectLst/>
                        </a:rPr>
                        <a:t>Année civile.</a:t>
                      </a:r>
                    </a:p>
                  </a:txBody>
                  <a:tcPr marL="42031" marR="42031" marT="21016" marB="2101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500">
                          <a:effectLst/>
                        </a:rPr>
                        <a:t>2024</a:t>
                      </a:r>
                    </a:p>
                  </a:txBody>
                  <a:tcPr marL="42031" marR="42031" marT="21016" marB="2101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500">
                          <a:effectLst/>
                        </a:rPr>
                        <a:t>-</a:t>
                      </a:r>
                    </a:p>
                  </a:txBody>
                  <a:tcPr marL="42031" marR="42031" marT="21016" marB="2101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4293853"/>
                  </a:ext>
                </a:extLst>
              </a:tr>
              <a:tr h="6532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500">
                          <a:effectLst/>
                        </a:rPr>
                        <a:t>mois</a:t>
                      </a:r>
                    </a:p>
                  </a:txBody>
                  <a:tcPr marL="42031" marR="42031" marT="21016" marB="2101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500">
                          <a:effectLst/>
                        </a:rPr>
                        <a:t>INTEGER</a:t>
                      </a:r>
                    </a:p>
                  </a:txBody>
                  <a:tcPr marL="42031" marR="42031" marT="21016" marB="2101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500">
                          <a:effectLst/>
                        </a:rPr>
                        <a:t>Numéro du mois (1 à 12).</a:t>
                      </a:r>
                    </a:p>
                  </a:txBody>
                  <a:tcPr marL="42031" marR="42031" marT="21016" marB="2101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500">
                          <a:effectLst/>
                        </a:rPr>
                        <a:t>8</a:t>
                      </a:r>
                    </a:p>
                  </a:txBody>
                  <a:tcPr marL="42031" marR="42031" marT="21016" marB="2101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500">
                          <a:effectLst/>
                        </a:rPr>
                        <a:t>-</a:t>
                      </a:r>
                    </a:p>
                  </a:txBody>
                  <a:tcPr marL="42031" marR="42031" marT="21016" marB="2101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6135381"/>
                  </a:ext>
                </a:extLst>
              </a:tr>
              <a:tr h="973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500">
                          <a:effectLst/>
                        </a:rPr>
                        <a:t>jour_date</a:t>
                      </a:r>
                    </a:p>
                  </a:txBody>
                  <a:tcPr marL="42031" marR="42031" marT="21016" marB="2101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500">
                          <a:effectLst/>
                        </a:rPr>
                        <a:t>TEXT</a:t>
                      </a:r>
                    </a:p>
                  </a:txBody>
                  <a:tcPr marL="42031" marR="42031" marT="21016" marB="2101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500">
                          <a:effectLst/>
                        </a:rPr>
                        <a:t>Date complète au format ISO.</a:t>
                      </a:r>
                    </a:p>
                  </a:txBody>
                  <a:tcPr marL="42031" marR="42031" marT="21016" marB="2101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500">
                          <a:effectLst/>
                        </a:rPr>
                        <a:t>14/08/2024</a:t>
                      </a:r>
                    </a:p>
                  </a:txBody>
                  <a:tcPr marL="42031" marR="42031" marT="21016" marB="2101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500">
                          <a:effectLst/>
                        </a:rPr>
                        <a:t>Renommée depuis "Jour" lors du chargement</a:t>
                      </a:r>
                    </a:p>
                  </a:txBody>
                  <a:tcPr marL="42031" marR="42031" marT="21016" marB="2101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62855"/>
                  </a:ext>
                </a:extLst>
              </a:tr>
              <a:tr h="6532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500">
                          <a:effectLst/>
                        </a:rPr>
                        <a:t>mois_nom</a:t>
                      </a:r>
                    </a:p>
                  </a:txBody>
                  <a:tcPr marL="42031" marR="42031" marT="21016" marB="2101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500">
                          <a:effectLst/>
                        </a:rPr>
                        <a:t>TEXT</a:t>
                      </a:r>
                    </a:p>
                  </a:txBody>
                  <a:tcPr marL="42031" marR="42031" marT="21016" marB="2101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500">
                          <a:effectLst/>
                        </a:rPr>
                        <a:t>Nom du mois en français.</a:t>
                      </a:r>
                    </a:p>
                  </a:txBody>
                  <a:tcPr marL="42031" marR="42031" marT="21016" marB="2101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500">
                          <a:effectLst/>
                        </a:rPr>
                        <a:t>Août</a:t>
                      </a:r>
                    </a:p>
                  </a:txBody>
                  <a:tcPr marL="42031" marR="42031" marT="21016" marB="2101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500">
                          <a:effectLst/>
                        </a:rPr>
                        <a:t>-</a:t>
                      </a:r>
                    </a:p>
                  </a:txBody>
                  <a:tcPr marL="42031" marR="42031" marT="21016" marB="2101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4871755"/>
                  </a:ext>
                </a:extLst>
              </a:tr>
              <a:tr h="14222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500">
                          <a:effectLst/>
                        </a:rPr>
                        <a:t>annee_mois</a:t>
                      </a:r>
                    </a:p>
                  </a:txBody>
                  <a:tcPr marL="42031" marR="42031" marT="21016" marB="2101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500">
                          <a:effectLst/>
                        </a:rPr>
                        <a:t>INTEGER</a:t>
                      </a:r>
                    </a:p>
                  </a:txBody>
                  <a:tcPr marL="42031" marR="42031" marT="21016" marB="2101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500">
                          <a:effectLst/>
                        </a:rPr>
                        <a:t>Identifiant combiné mois/année pour regroupements.</a:t>
                      </a:r>
                    </a:p>
                  </a:txBody>
                  <a:tcPr marL="42031" marR="42031" marT="21016" marB="2101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500">
                          <a:effectLst/>
                        </a:rPr>
                        <a:t>202408</a:t>
                      </a:r>
                    </a:p>
                  </a:txBody>
                  <a:tcPr marL="42031" marR="42031" marT="21016" marB="2101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500">
                          <a:effectLst/>
                        </a:rPr>
                        <a:t>-</a:t>
                      </a:r>
                    </a:p>
                  </a:txBody>
                  <a:tcPr marL="42031" marR="42031" marT="21016" marB="2101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0397799"/>
                  </a:ext>
                </a:extLst>
              </a:tr>
              <a:tr h="973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500">
                          <a:effectLst/>
                        </a:rPr>
                        <a:t>jour_semaine</a:t>
                      </a:r>
                    </a:p>
                  </a:txBody>
                  <a:tcPr marL="42031" marR="42031" marT="21016" marB="2101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500">
                          <a:effectLst/>
                        </a:rPr>
                        <a:t>INTEGER</a:t>
                      </a:r>
                    </a:p>
                  </a:txBody>
                  <a:tcPr marL="42031" marR="42031" marT="21016" marB="2101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500">
                          <a:effectLst/>
                        </a:rPr>
                        <a:t>Index du jour de la semaine (0=Lundi, 6=Dimanche).</a:t>
                      </a:r>
                    </a:p>
                  </a:txBody>
                  <a:tcPr marL="42031" marR="42031" marT="21016" marB="2101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500">
                          <a:effectLst/>
                        </a:rPr>
                        <a:t>2</a:t>
                      </a:r>
                    </a:p>
                  </a:txBody>
                  <a:tcPr marL="42031" marR="42031" marT="21016" marB="2101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500">
                          <a:effectLst/>
                        </a:rPr>
                        <a:t>-</a:t>
                      </a:r>
                    </a:p>
                  </a:txBody>
                  <a:tcPr marL="42031" marR="42031" marT="21016" marB="2101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7818848"/>
                  </a:ext>
                </a:extLst>
              </a:tr>
              <a:tr h="7485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500">
                          <a:effectLst/>
                        </a:rPr>
                        <a:t>trimestre</a:t>
                      </a:r>
                    </a:p>
                  </a:txBody>
                  <a:tcPr marL="42031" marR="42031" marT="21016" marB="2101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500">
                          <a:effectLst/>
                        </a:rPr>
                        <a:t>TEXT</a:t>
                      </a:r>
                    </a:p>
                  </a:txBody>
                  <a:tcPr marL="42031" marR="42031" marT="21016" marB="2101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500">
                          <a:effectLst/>
                        </a:rPr>
                        <a:t>Trimestre au format standard.</a:t>
                      </a:r>
                    </a:p>
                  </a:txBody>
                  <a:tcPr marL="42031" marR="42031" marT="21016" marB="2101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500">
                          <a:effectLst/>
                        </a:rPr>
                        <a:t>Q3</a:t>
                      </a:r>
                    </a:p>
                  </a:txBody>
                  <a:tcPr marL="42031" marR="42031" marT="21016" marB="2101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500" dirty="0">
                          <a:effectLst/>
                        </a:rPr>
                        <a:t>-</a:t>
                      </a:r>
                    </a:p>
                  </a:txBody>
                  <a:tcPr marL="42031" marR="42031" marT="21016" marB="2101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69549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011663" y="685767"/>
            <a:ext cx="264674" cy="264674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B6E50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 rot="1195273">
            <a:off x="11479713" y="6529632"/>
            <a:ext cx="8888398" cy="7514736"/>
          </a:xfrm>
          <a:custGeom>
            <a:avLst/>
            <a:gdLst/>
            <a:ahLst/>
            <a:cxnLst/>
            <a:rect l="l" t="t" r="r" b="b"/>
            <a:pathLst>
              <a:path w="8888398" h="7514736">
                <a:moveTo>
                  <a:pt x="0" y="0"/>
                </a:moveTo>
                <a:lnTo>
                  <a:pt x="8888398" y="0"/>
                </a:lnTo>
                <a:lnTo>
                  <a:pt x="8888398" y="7514736"/>
                </a:lnTo>
                <a:lnTo>
                  <a:pt x="0" y="751473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8470115">
            <a:off x="17253124" y="7683832"/>
            <a:ext cx="4495479" cy="3587985"/>
          </a:xfrm>
          <a:custGeom>
            <a:avLst/>
            <a:gdLst/>
            <a:ahLst/>
            <a:cxnLst/>
            <a:rect l="l" t="t" r="r" b="b"/>
            <a:pathLst>
              <a:path w="4495479" h="3587985">
                <a:moveTo>
                  <a:pt x="0" y="0"/>
                </a:moveTo>
                <a:lnTo>
                  <a:pt x="4495479" y="0"/>
                </a:lnTo>
                <a:lnTo>
                  <a:pt x="4495479" y="3587985"/>
                </a:lnTo>
                <a:lnTo>
                  <a:pt x="0" y="358798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16924170" y="204366"/>
            <a:ext cx="1144250" cy="1144250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155617" y="0"/>
                  </a:moveTo>
                  <a:lnTo>
                    <a:pt x="657183" y="0"/>
                  </a:lnTo>
                  <a:cubicBezTo>
                    <a:pt x="743128" y="0"/>
                    <a:pt x="812800" y="69672"/>
                    <a:pt x="812800" y="155617"/>
                  </a:cubicBezTo>
                  <a:lnTo>
                    <a:pt x="812800" y="657183"/>
                  </a:lnTo>
                  <a:cubicBezTo>
                    <a:pt x="812800" y="743128"/>
                    <a:pt x="743128" y="812800"/>
                    <a:pt x="657183" y="812800"/>
                  </a:cubicBezTo>
                  <a:lnTo>
                    <a:pt x="155617" y="812800"/>
                  </a:lnTo>
                  <a:cubicBezTo>
                    <a:pt x="69672" y="812800"/>
                    <a:pt x="0" y="743128"/>
                    <a:pt x="0" y="657183"/>
                  </a:cubicBezTo>
                  <a:lnTo>
                    <a:pt x="0" y="155617"/>
                  </a:lnTo>
                  <a:cubicBezTo>
                    <a:pt x="0" y="69672"/>
                    <a:pt x="69672" y="0"/>
                    <a:pt x="155617" y="0"/>
                  </a:cubicBezTo>
                  <a:close/>
                </a:path>
              </a:pathLst>
            </a:custGeom>
            <a:blipFill>
              <a:blip r:embed="rId5"/>
              <a:stretch>
                <a:fillRect l="-74960" t="-12657" r="-80133" b="-30195"/>
              </a:stretch>
            </a:blipFill>
          </p:spPr>
        </p:sp>
      </p:grpSp>
      <p:sp>
        <p:nvSpPr>
          <p:cNvPr id="9" name="TextBox 9"/>
          <p:cNvSpPr txBox="1"/>
          <p:nvPr/>
        </p:nvSpPr>
        <p:spPr>
          <a:xfrm>
            <a:off x="1768932" y="-19050"/>
            <a:ext cx="15014809" cy="7048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400"/>
              </a:lnSpc>
              <a:spcBef>
                <a:spcPct val="0"/>
              </a:spcBef>
            </a:pPr>
            <a:r>
              <a:rPr lang="en-US" sz="4500" b="1">
                <a:solidFill>
                  <a:srgbClr val="000000"/>
                </a:solidFill>
                <a:latin typeface="TS Qamus Bold"/>
                <a:ea typeface="TS Qamus Bold"/>
                <a:cs typeface="TS Qamus Bold"/>
                <a:sym typeface="TS Qamus Bold"/>
              </a:rPr>
              <a:t>Dictionnaire de données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311607" y="2384092"/>
            <a:ext cx="525999" cy="525999"/>
            <a:chOff x="0" y="0"/>
            <a:chExt cx="6350000" cy="63500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4F4F8C"/>
            </a:solidFill>
          </p:spPr>
        </p:sp>
      </p:grpSp>
      <p:sp>
        <p:nvSpPr>
          <p:cNvPr id="13" name="TextBox 13"/>
          <p:cNvSpPr txBox="1"/>
          <p:nvPr/>
        </p:nvSpPr>
        <p:spPr>
          <a:xfrm>
            <a:off x="574607" y="2995209"/>
            <a:ext cx="1974768" cy="8605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 i="1">
                <a:solidFill>
                  <a:srgbClr val="000000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Table Logs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endParaRPr lang="en-US" sz="2499" i="1">
              <a:solidFill>
                <a:srgbClr val="000000"/>
              </a:solidFill>
              <a:latin typeface="Open Sans Italics"/>
              <a:ea typeface="Open Sans Italics"/>
              <a:cs typeface="Open Sans Italics"/>
              <a:sym typeface="Open Sans Italics"/>
            </a:endParaRPr>
          </a:p>
        </p:txBody>
      </p:sp>
      <p:graphicFrame>
        <p:nvGraphicFramePr>
          <p:cNvPr id="14" name="Tableau 13">
            <a:extLst>
              <a:ext uri="{FF2B5EF4-FFF2-40B4-BE49-F238E27FC236}">
                <a16:creationId xmlns:a16="http://schemas.microsoft.com/office/drawing/2014/main" id="{33EED985-6F22-9F11-6A9D-F006D6842B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8439742"/>
              </p:ext>
            </p:extLst>
          </p:nvPr>
        </p:nvGraphicFramePr>
        <p:xfrm>
          <a:off x="2549374" y="2038030"/>
          <a:ext cx="12462025" cy="7144071"/>
        </p:xfrm>
        <a:graphic>
          <a:graphicData uri="http://schemas.openxmlformats.org/drawingml/2006/table">
            <a:tbl>
              <a:tblPr/>
              <a:tblGrid>
                <a:gridCol w="2492405">
                  <a:extLst>
                    <a:ext uri="{9D8B030D-6E8A-4147-A177-3AD203B41FA5}">
                      <a16:colId xmlns:a16="http://schemas.microsoft.com/office/drawing/2014/main" val="1491056459"/>
                    </a:ext>
                  </a:extLst>
                </a:gridCol>
                <a:gridCol w="2492405">
                  <a:extLst>
                    <a:ext uri="{9D8B030D-6E8A-4147-A177-3AD203B41FA5}">
                      <a16:colId xmlns:a16="http://schemas.microsoft.com/office/drawing/2014/main" val="1601019902"/>
                    </a:ext>
                  </a:extLst>
                </a:gridCol>
                <a:gridCol w="2492405">
                  <a:extLst>
                    <a:ext uri="{9D8B030D-6E8A-4147-A177-3AD203B41FA5}">
                      <a16:colId xmlns:a16="http://schemas.microsoft.com/office/drawing/2014/main" val="1775351755"/>
                    </a:ext>
                  </a:extLst>
                </a:gridCol>
                <a:gridCol w="2492405">
                  <a:extLst>
                    <a:ext uri="{9D8B030D-6E8A-4147-A177-3AD203B41FA5}">
                      <a16:colId xmlns:a16="http://schemas.microsoft.com/office/drawing/2014/main" val="4023784847"/>
                    </a:ext>
                  </a:extLst>
                </a:gridCol>
                <a:gridCol w="2492405">
                  <a:extLst>
                    <a:ext uri="{9D8B030D-6E8A-4147-A177-3AD203B41FA5}">
                      <a16:colId xmlns:a16="http://schemas.microsoft.com/office/drawing/2014/main" val="1166401627"/>
                    </a:ext>
                  </a:extLst>
                </a:gridCol>
              </a:tblGrid>
              <a:tr h="7002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500" b="1">
                          <a:effectLst/>
                        </a:rPr>
                        <a:t>Colonne</a:t>
                      </a:r>
                    </a:p>
                  </a:txBody>
                  <a:tcPr marL="58988" marR="58988" marT="29494" marB="29494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C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500" b="1">
                          <a:effectLst/>
                        </a:rPr>
                        <a:t>Type SQL</a:t>
                      </a:r>
                    </a:p>
                  </a:txBody>
                  <a:tcPr marL="58988" marR="58988" marT="29494" marB="29494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C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500" b="1">
                          <a:effectLst/>
                        </a:rPr>
                        <a:t>Description</a:t>
                      </a:r>
                    </a:p>
                  </a:txBody>
                  <a:tcPr marL="58988" marR="58988" marT="29494" marB="29494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C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500" b="1">
                          <a:effectLst/>
                        </a:rPr>
                        <a:t>Valeur Exemple</a:t>
                      </a:r>
                    </a:p>
                  </a:txBody>
                  <a:tcPr marL="58988" marR="58988" marT="29494" marB="29494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C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500" b="1">
                          <a:effectLst/>
                        </a:rPr>
                        <a:t>Contraintes / Anomalie</a:t>
                      </a:r>
                    </a:p>
                  </a:txBody>
                  <a:tcPr marL="58988" marR="58988" marT="29494" marB="29494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C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3926130"/>
                  </a:ext>
                </a:extLst>
              </a:tr>
              <a:tr h="12144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500">
                          <a:effectLst/>
                        </a:rPr>
                        <a:t>id_log</a:t>
                      </a:r>
                    </a:p>
                  </a:txBody>
                  <a:tcPr marL="58988" marR="58988" marT="29494" marB="29494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500">
                          <a:effectLst/>
                        </a:rPr>
                        <a:t>INTEGER</a:t>
                      </a:r>
                    </a:p>
                  </a:txBody>
                  <a:tcPr marL="58988" marR="58988" marT="29494" marB="29494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500">
                          <a:effectLst/>
                        </a:rPr>
                        <a:t>Identifiant auto-incrémenté du log.</a:t>
                      </a:r>
                    </a:p>
                  </a:txBody>
                  <a:tcPr marL="58988" marR="58988" marT="29494" marB="29494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500">
                          <a:effectLst/>
                        </a:rPr>
                        <a:t>1</a:t>
                      </a:r>
                    </a:p>
                  </a:txBody>
                  <a:tcPr marL="58988" marR="58988" marT="29494" marB="29494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500">
                          <a:effectLst/>
                        </a:rPr>
                        <a:t>PK - AUTOINCREMENT</a:t>
                      </a:r>
                    </a:p>
                  </a:txBody>
                  <a:tcPr marL="58988" marR="58988" marT="29494" marB="29494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5164865"/>
                  </a:ext>
                </a:extLst>
              </a:tr>
              <a:tr h="12144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500">
                          <a:effectLst/>
                        </a:rPr>
                        <a:t>id_user</a:t>
                      </a:r>
                    </a:p>
                  </a:txBody>
                  <a:tcPr marL="58988" marR="58988" marT="29494" marB="29494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500">
                          <a:effectLst/>
                        </a:rPr>
                        <a:t>TEXT</a:t>
                      </a:r>
                    </a:p>
                  </a:txBody>
                  <a:tcPr marL="58988" marR="58988" marT="29494" marB="29494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500">
                          <a:effectLst/>
                        </a:rPr>
                        <a:t>Identifiant de l'employé ayant réalisé l'opération.</a:t>
                      </a:r>
                    </a:p>
                  </a:txBody>
                  <a:tcPr marL="58988" marR="58988" marT="29494" marB="29494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500">
                          <a:effectLst/>
                        </a:rPr>
                        <a:t>EMP_abc123</a:t>
                      </a:r>
                    </a:p>
                  </a:txBody>
                  <a:tcPr marL="58988" marR="58988" marT="29494" marB="29494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500">
                          <a:effectLst/>
                        </a:rPr>
                        <a:t>FK → Dim_Employes</a:t>
                      </a:r>
                    </a:p>
                  </a:txBody>
                  <a:tcPr marL="58988" marR="58988" marT="29494" marB="29494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4479668"/>
                  </a:ext>
                </a:extLst>
              </a:tr>
              <a:tr h="9334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500">
                          <a:effectLst/>
                        </a:rPr>
                        <a:t>date</a:t>
                      </a:r>
                    </a:p>
                  </a:txBody>
                  <a:tcPr marL="58988" marR="58988" marT="29494" marB="29494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500">
                          <a:effectLst/>
                        </a:rPr>
                        <a:t>DATETIME</a:t>
                      </a:r>
                    </a:p>
                  </a:txBody>
                  <a:tcPr marL="58988" marR="58988" marT="29494" marB="29494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500">
                          <a:effectLst/>
                        </a:rPr>
                        <a:t>Horodatage précis de l'opération.</a:t>
                      </a:r>
                    </a:p>
                  </a:txBody>
                  <a:tcPr marL="58988" marR="58988" marT="29494" marB="29494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500">
                          <a:effectLst/>
                        </a:rPr>
                        <a:t>2024-08-14 18:32:11</a:t>
                      </a:r>
                    </a:p>
                  </a:txBody>
                  <a:tcPr marL="58988" marR="58988" marT="29494" marB="29494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500">
                          <a:effectLst/>
                        </a:rPr>
                        <a:t>Non null</a:t>
                      </a:r>
                    </a:p>
                  </a:txBody>
                  <a:tcPr marL="58988" marR="58988" marT="29494" marB="29494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789109"/>
                  </a:ext>
                </a:extLst>
              </a:tr>
              <a:tr h="9334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500">
                          <a:effectLst/>
                        </a:rPr>
                        <a:t>id_bdd</a:t>
                      </a:r>
                    </a:p>
                  </a:txBody>
                  <a:tcPr marL="58988" marR="58988" marT="29494" marB="29494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500">
                          <a:effectLst/>
                        </a:rPr>
                        <a:t>TEXT</a:t>
                      </a:r>
                    </a:p>
                  </a:txBody>
                  <a:tcPr marL="58988" marR="58988" marT="29494" marB="29494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500">
                          <a:effectLst/>
                        </a:rPr>
                        <a:t>Référence à la ligne de vente concernée.</a:t>
                      </a:r>
                    </a:p>
                  </a:txBody>
                  <a:tcPr marL="58988" marR="58988" marT="29494" marB="29494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500" dirty="0">
                          <a:effectLst/>
                        </a:rPr>
                        <a:t>V-00001</a:t>
                      </a:r>
                    </a:p>
                  </a:txBody>
                  <a:tcPr marL="58988" marR="58988" marT="29494" marB="29494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500">
                          <a:effectLst/>
                        </a:rPr>
                        <a:t>FK → Fact_Ventes.ID_BDD</a:t>
                      </a:r>
                    </a:p>
                  </a:txBody>
                  <a:tcPr marL="58988" marR="58988" marT="29494" marB="29494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6249456"/>
                  </a:ext>
                </a:extLst>
              </a:tr>
              <a:tr h="12144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500">
                          <a:effectLst/>
                        </a:rPr>
                        <a:t>id_produit</a:t>
                      </a:r>
                    </a:p>
                  </a:txBody>
                  <a:tcPr marL="58988" marR="58988" marT="29494" marB="29494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500">
                          <a:effectLst/>
                        </a:rPr>
                        <a:t>INTEGER</a:t>
                      </a:r>
                    </a:p>
                  </a:txBody>
                  <a:tcPr marL="58988" marR="58988" marT="29494" marB="29494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500">
                          <a:effectLst/>
                        </a:rPr>
                        <a:t>Référence au produit concerné par l'opération.</a:t>
                      </a:r>
                    </a:p>
                  </a:txBody>
                  <a:tcPr marL="58988" marR="58988" marT="29494" marB="29494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500">
                          <a:effectLst/>
                        </a:rPr>
                        <a:t>3017620425035</a:t>
                      </a:r>
                    </a:p>
                  </a:txBody>
                  <a:tcPr marL="58988" marR="58988" marT="29494" marB="29494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500">
                          <a:effectLst/>
                        </a:rPr>
                        <a:t>FK → Dim_Produits.EAN</a:t>
                      </a:r>
                    </a:p>
                  </a:txBody>
                  <a:tcPr marL="58988" marR="58988" marT="29494" marB="29494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8085382"/>
                  </a:ext>
                </a:extLst>
              </a:tr>
              <a:tr h="9334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500">
                          <a:effectLst/>
                        </a:rPr>
                        <a:t>status</a:t>
                      </a:r>
                    </a:p>
                  </a:txBody>
                  <a:tcPr marL="58988" marR="58988" marT="29494" marB="29494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500">
                          <a:effectLst/>
                        </a:rPr>
                        <a:t>TEXT</a:t>
                      </a:r>
                    </a:p>
                  </a:txBody>
                  <a:tcPr marL="58988" marR="58988" marT="29494" marB="29494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500">
                          <a:effectLst/>
                        </a:rPr>
                        <a:t>Type d'opération réalisée.</a:t>
                      </a:r>
                    </a:p>
                  </a:txBody>
                  <a:tcPr marL="58988" marR="58988" marT="29494" marB="29494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500">
                          <a:effectLst/>
                        </a:rPr>
                        <a:t>INSERT, UPDATE, DELETE</a:t>
                      </a:r>
                    </a:p>
                  </a:txBody>
                  <a:tcPr marL="58988" marR="58988" marT="29494" marB="29494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500" dirty="0">
                          <a:effectLst/>
                        </a:rPr>
                        <a:t>Non </a:t>
                      </a:r>
                      <a:r>
                        <a:rPr lang="fr-FR" sz="1500" dirty="0" err="1">
                          <a:effectLst/>
                        </a:rPr>
                        <a:t>null</a:t>
                      </a:r>
                      <a:endParaRPr lang="fr-FR" sz="1500" dirty="0">
                        <a:effectLst/>
                      </a:endParaRPr>
                    </a:p>
                  </a:txBody>
                  <a:tcPr marL="58988" marR="58988" marT="29494" marB="29494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673224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3433763"/>
            <a:ext cx="10196009" cy="17099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20"/>
              </a:lnSpc>
              <a:spcBef>
                <a:spcPct val="0"/>
              </a:spcBef>
            </a:pPr>
            <a:r>
              <a:rPr lang="en-US" sz="5600">
                <a:solidFill>
                  <a:srgbClr val="000000"/>
                </a:solidFill>
                <a:latin typeface="TS Qamus"/>
                <a:ea typeface="TS Qamus"/>
                <a:cs typeface="TS Qamus"/>
                <a:sym typeface="TS Qamus"/>
              </a:rPr>
              <a:t>Merci pour votre attention !</a:t>
            </a:r>
          </a:p>
          <a:p>
            <a:pPr algn="l">
              <a:lnSpc>
                <a:spcPts val="6720"/>
              </a:lnSpc>
              <a:spcBef>
                <a:spcPct val="0"/>
              </a:spcBef>
            </a:pPr>
            <a:endParaRPr lang="en-US" sz="5600">
              <a:solidFill>
                <a:srgbClr val="000000"/>
              </a:solidFill>
              <a:latin typeface="TS Qamus"/>
              <a:ea typeface="TS Qamus"/>
              <a:cs typeface="TS Qamus"/>
              <a:sym typeface="TS Qamus"/>
            </a:endParaRPr>
          </a:p>
        </p:txBody>
      </p:sp>
      <p:sp>
        <p:nvSpPr>
          <p:cNvPr id="3" name="Freeform 3"/>
          <p:cNvSpPr/>
          <p:nvPr/>
        </p:nvSpPr>
        <p:spPr>
          <a:xfrm rot="10194554">
            <a:off x="10728349" y="7342013"/>
            <a:ext cx="9972434" cy="9893198"/>
          </a:xfrm>
          <a:custGeom>
            <a:avLst/>
            <a:gdLst/>
            <a:ahLst/>
            <a:cxnLst/>
            <a:rect l="l" t="t" r="r" b="b"/>
            <a:pathLst>
              <a:path w="9972434" h="9893198">
                <a:moveTo>
                  <a:pt x="0" y="0"/>
                </a:moveTo>
                <a:lnTo>
                  <a:pt x="9972434" y="0"/>
                </a:lnTo>
                <a:lnTo>
                  <a:pt x="9972434" y="9893198"/>
                </a:lnTo>
                <a:lnTo>
                  <a:pt x="0" y="989319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10053050">
            <a:off x="4940210" y="7771738"/>
            <a:ext cx="8888398" cy="7514736"/>
          </a:xfrm>
          <a:custGeom>
            <a:avLst/>
            <a:gdLst/>
            <a:ahLst/>
            <a:cxnLst/>
            <a:rect l="l" t="t" r="r" b="b"/>
            <a:pathLst>
              <a:path w="8888398" h="7514736">
                <a:moveTo>
                  <a:pt x="0" y="0"/>
                </a:moveTo>
                <a:lnTo>
                  <a:pt x="8888398" y="0"/>
                </a:lnTo>
                <a:lnTo>
                  <a:pt x="8888398" y="7514737"/>
                </a:lnTo>
                <a:lnTo>
                  <a:pt x="0" y="751473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16924170" y="204366"/>
            <a:ext cx="1144250" cy="1144250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155617" y="0"/>
                  </a:moveTo>
                  <a:lnTo>
                    <a:pt x="657183" y="0"/>
                  </a:lnTo>
                  <a:cubicBezTo>
                    <a:pt x="743128" y="0"/>
                    <a:pt x="812800" y="69672"/>
                    <a:pt x="812800" y="155617"/>
                  </a:cubicBezTo>
                  <a:lnTo>
                    <a:pt x="812800" y="657183"/>
                  </a:lnTo>
                  <a:cubicBezTo>
                    <a:pt x="812800" y="743128"/>
                    <a:pt x="743128" y="812800"/>
                    <a:pt x="657183" y="812800"/>
                  </a:cubicBezTo>
                  <a:lnTo>
                    <a:pt x="155617" y="812800"/>
                  </a:lnTo>
                  <a:cubicBezTo>
                    <a:pt x="69672" y="812800"/>
                    <a:pt x="0" y="743128"/>
                    <a:pt x="0" y="657183"/>
                  </a:cubicBezTo>
                  <a:lnTo>
                    <a:pt x="0" y="155617"/>
                  </a:lnTo>
                  <a:cubicBezTo>
                    <a:pt x="0" y="69672"/>
                    <a:pt x="69672" y="0"/>
                    <a:pt x="155617" y="0"/>
                  </a:cubicBezTo>
                  <a:close/>
                </a:path>
              </a:pathLst>
            </a:custGeom>
            <a:blipFill>
              <a:blip r:embed="rId5"/>
              <a:stretch>
                <a:fillRect l="-74960" t="-12657" r="-80133" b="-30195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1896</Words>
  <Application>Microsoft Office PowerPoint</Application>
  <PresentationFormat>Personnalisé</PresentationFormat>
  <Paragraphs>482</Paragraphs>
  <Slides>24</Slides>
  <Notes>24</Notes>
  <HiddenSlides>0</HiddenSlides>
  <MMClips>0</MMClips>
  <ScaleCrop>false</ScaleCrop>
  <HeadingPairs>
    <vt:vector size="8" baseType="variant">
      <vt:variant>
        <vt:lpstr>Polices utilisées</vt:lpstr>
      </vt:variant>
      <vt:variant>
        <vt:i4>8</vt:i4>
      </vt:variant>
      <vt:variant>
        <vt:lpstr>Thème</vt:lpstr>
      </vt:variant>
      <vt:variant>
        <vt:i4>1</vt:i4>
      </vt:variant>
      <vt:variant>
        <vt:lpstr>Serveurs OLE incorporés</vt:lpstr>
      </vt:variant>
      <vt:variant>
        <vt:i4>1</vt:i4>
      </vt:variant>
      <vt:variant>
        <vt:lpstr>Titres des diapositives</vt:lpstr>
      </vt:variant>
      <vt:variant>
        <vt:i4>24</vt:i4>
      </vt:variant>
    </vt:vector>
  </HeadingPairs>
  <TitlesOfParts>
    <vt:vector size="34" baseType="lpstr">
      <vt:lpstr>TS Qamus</vt:lpstr>
      <vt:lpstr>Open Sans Bold Italics</vt:lpstr>
      <vt:lpstr>Calibri</vt:lpstr>
      <vt:lpstr>TS Qamus Bold</vt:lpstr>
      <vt:lpstr>Open Sans Italics</vt:lpstr>
      <vt:lpstr>Arial</vt:lpstr>
      <vt:lpstr>Open Sans Bold</vt:lpstr>
      <vt:lpstr>Open Sans</vt:lpstr>
      <vt:lpstr>Office Theme</vt:lpstr>
      <vt:lpstr>Worksheet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Cursus OpenClassRooms Data Engineering 2025 / 2026 Candidat : Mr Jean-Francois Chaussoy Alternant Data Engineering Mentore : Mr Arnol Namegni Projet 4</dc:title>
  <dc:creator>Jean-Francois Chaussoy</dc:creator>
  <cp:lastModifiedBy>Jean-Francois Chaussoy</cp:lastModifiedBy>
  <cp:revision>21</cp:revision>
  <dcterms:created xsi:type="dcterms:W3CDTF">2006-08-16T00:00:00Z</dcterms:created>
  <dcterms:modified xsi:type="dcterms:W3CDTF">2026-03-20T11:52:10Z</dcterms:modified>
  <dc:identifier>DAHDLgc0dIY</dc:identifier>
</cp:coreProperties>
</file>